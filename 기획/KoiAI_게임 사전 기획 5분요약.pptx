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1" r:id="rId4"/>
    <p:sldId id="262" r:id="rId5"/>
    <p:sldId id="259" r:id="rId6"/>
    <p:sldId id="260" r:id="rId7"/>
    <p:sldId id="258"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6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89280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SF 로그라이트 액션 게임 'Koi AI'의 사전 기획 내용을 5분 안에 핵심만 요약해서 소개해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Koi AI는 3D SF 액션 로그라이트 TPS 싱글 게임으로, PC 플랫폼에서 약 6개월의 개발 기간을 목표로 합니다. 'Koi'는 사랑을 뜻하는 동시에 감정을 가진 로봇 주인공의 이름이기도 합니다. 인간에게 점령당한 행성 코르비스를 배경으로, 주인공 Koi가 납치된 친구 Roi를 구하기 위해 위험한 우주선에 잠입하는 이야기입니다.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2025년 게임백서에 따르면 PC 게임 이용률은 남성이 70.8%로 여성보다 높고, 슈팅 및 TPS 장르가 전체 47.2%로 가장 높은 이용률을 보였습니다. 이 중에서도 로그라이트 장르는 10대에서 이용률이 가장 높았습니다. 이러한 데이터를 바탕으로 Koi AI는 TPS와 로그라이트를 결합해 10대에서 20대 남성을 핵심 타겟으로 설정했습니다.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유사 장르 게임으로 아크러너와 리스크 오브 레인 2를 분석했습니다. 아크러너는 아이템과 총기를 조합한 나만의 전투 스타일과 사이버펑크 몰입감이 강점이지만 콘텐츠 다양성이 아쉽고, 리스크 오브 레인 2는 폭발적인 성장과 랜덤성이 매력이지만 운에 따라 밸런스가 크게 갈립니다. Koi AI는 두 게임의 장점인 조합형 무기와 성장의 손맛은 가져오되, 아이템 간 밸런스를 맞추고 영상 튜토리얼을 제공해 단점을 보완할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코르비스는 희귀 자원이 풍부한 행성으로, 이곳에서 일하던 AI 로봇들이 자아를 갖게 되며 인간과 충돌해 인류가 한 차례 철수했던 곳입니다. 이후 자원 고갈에 직면한 인류가 다시 행성을 침공해 로봇들을 통제된 노동력으로 만들었고, 거대한 우주 관문 코르비스 게이트로 탈출까지 막고 있습니다. 게임은 바로 이 억압된 시대를 배경으로 시작됩니다.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재미는 두 가지입니다. 적에게 발각되면 추격전이 벌어지는 긴장감 있는 잠입 플레이, 그리고 성장한 이후에는 강해진 플레이어가 적을 정면으로 물리치는 액션의 쾌감입니다. 무대는 대형 우주선 내부 3개 층으로, 미션 수행과 부품 탐색, 적 처치를 반복하며 각 층의 보스를 처치하면 다음 단계로 넘어가고, 최종적으로 Roi를 구출하면 엔딩을 맞이합니다.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주인공 Koi는 구출자 역할로, 무뚝뚝하지만 속정 깊은 성격입니다. 납치당한 Roi는 내성적이지만 반전의 이중인격을 가진 캐릭터로, 두 캐릭터는 서로 역할을 바꿔 플레이할 수도 있습니다. Roi의 부품을 모두 모아 구출하면 이후 Koi와 함께 전투에 합류합니다. 둘은 서로 사랑하는 관계이며, 이 재회의 서사가 게임의 감정적 중심이 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수익 모델은 스팀 등 유통 플랫폼 판매를 중심으로, 출시 전 위시리스트 마케팅과 인플루언서, SNS 영상 광고를 함께 활용합니다. 다만 과도한 광고 노출은 피로감을 줄 수 있어 주간 노출을 3회 정도로 제한할 계획입니다. 개발상 가장 큰 위험은 좁은 맵으로 인한 낮은 자유도, 세계관 대비 부족한 분량, 싱글 게임의 낮은 재플레이 가치인데, 커스터마이징과 외부 스킨, 비주얼 노벨형 도입부, 이후 신규 콘텐츠 추가로 이를 보완할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Koi AI는 사랑하는 동료를 구하기 위한 로봇의 절박한 여정을 그린 SF 로그라이트 액션 게임입니다. 이상으로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F"/>
        </a:solidFill>
        <a:effectLst/>
      </p:bgPr>
    </p:bg>
    <p:spTree>
      <p:nvGrpSpPr>
        <p:cNvPr id="1" name=""/>
        <p:cNvGrpSpPr/>
        <p:nvPr/>
      </p:nvGrpSpPr>
      <p:grpSpPr>
        <a:xfrm>
          <a:off x="0" y="0"/>
          <a:ext cx="0" cy="0"/>
          <a:chOff x="0" y="0"/>
          <a:chExt cx="0" cy="0"/>
        </a:xfrm>
      </p:grpSpPr>
      <p:pic>
        <p:nvPicPr>
          <p:cNvPr id="2" name="Image 0" descr="assets/robots.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0A0C12">
              <a:alpha val="72000"/>
            </a:srgbClr>
          </a:solidFill>
          <a:ln/>
        </p:spPr>
      </p:sp>
      <p:sp>
        <p:nvSpPr>
          <p:cNvPr id="4" name="Shape 1"/>
          <p:cNvSpPr/>
          <p:nvPr/>
        </p:nvSpPr>
        <p:spPr>
          <a:xfrm>
            <a:off x="0" y="0"/>
            <a:ext cx="12188952" cy="6858000"/>
          </a:xfrm>
          <a:prstGeom prst="rect">
            <a:avLst/>
          </a:prstGeom>
          <a:solidFill>
            <a:srgbClr val="14171F">
              <a:alpha val="0"/>
            </a:srgbClr>
          </a:solidFill>
          <a:ln w="12700">
            <a:solidFill>
              <a:srgbClr val="14171F"/>
            </a:solidFill>
            <a:prstDash val="solid"/>
          </a:ln>
        </p:spPr>
      </p:sp>
      <p:sp>
        <p:nvSpPr>
          <p:cNvPr id="5" name="Shape 2"/>
          <p:cNvSpPr/>
          <p:nvPr/>
        </p:nvSpPr>
        <p:spPr>
          <a:xfrm>
            <a:off x="0" y="3931920"/>
            <a:ext cx="12188952" cy="2926080"/>
          </a:xfrm>
          <a:prstGeom prst="rect">
            <a:avLst/>
          </a:prstGeom>
          <a:solidFill>
            <a:srgbClr val="0A0C12">
              <a:alpha val="65000"/>
            </a:srgbClr>
          </a:solidFill>
          <a:ln/>
        </p:spPr>
      </p:sp>
      <p:sp>
        <p:nvSpPr>
          <p:cNvPr id="6" name="Text 3"/>
          <p:cNvSpPr/>
          <p:nvPr/>
        </p:nvSpPr>
        <p:spPr>
          <a:xfrm>
            <a:off x="640080" y="548640"/>
            <a:ext cx="7315200" cy="457200"/>
          </a:xfrm>
          <a:prstGeom prst="rect">
            <a:avLst/>
          </a:prstGeom>
          <a:noFill/>
          <a:ln/>
        </p:spPr>
        <p:txBody>
          <a:bodyPr wrap="square"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게임 사전 기획 · 5분 요약</a:t>
            </a:r>
            <a:endParaRPr lang="en-US" sz="1400" dirty="0"/>
          </a:p>
        </p:txBody>
      </p:sp>
      <p:sp>
        <p:nvSpPr>
          <p:cNvPr id="7" name="Text 4"/>
          <p:cNvSpPr/>
          <p:nvPr/>
        </p:nvSpPr>
        <p:spPr>
          <a:xfrm>
            <a:off x="594360" y="2468880"/>
            <a:ext cx="9144000" cy="1463040"/>
          </a:xfrm>
          <a:prstGeom prst="rect">
            <a:avLst/>
          </a:prstGeom>
          <a:noFill/>
          <a:ln/>
        </p:spPr>
        <p:txBody>
          <a:bodyPr wrap="square" lIns="0" tIns="0" rIns="0" bIns="0" rtlCol="0" anchor="ctr"/>
          <a:lstStyle/>
          <a:p>
            <a:pPr marL="0" indent="0">
              <a:buNone/>
            </a:pPr>
            <a:r>
              <a:rPr lang="en-US" sz="8000" b="1" dirty="0">
                <a:solidFill>
                  <a:srgbClr val="F4F4F1"/>
                </a:solidFill>
                <a:latin typeface="Century Schoolbook" pitchFamily="34" charset="0"/>
                <a:ea typeface="Century Schoolbook" pitchFamily="34" charset="-122"/>
                <a:cs typeface="Century Schoolbook" pitchFamily="34" charset="-120"/>
              </a:rPr>
              <a:t>Koi AI</a:t>
            </a:r>
            <a:endParaRPr lang="en-US" sz="8000" dirty="0"/>
          </a:p>
        </p:txBody>
      </p:sp>
      <p:sp>
        <p:nvSpPr>
          <p:cNvPr id="8" name="Text 5"/>
          <p:cNvSpPr/>
          <p:nvPr/>
        </p:nvSpPr>
        <p:spPr>
          <a:xfrm>
            <a:off x="640080" y="3794760"/>
            <a:ext cx="8229600" cy="548640"/>
          </a:xfrm>
          <a:prstGeom prst="rect">
            <a:avLst/>
          </a:prstGeom>
          <a:noFill/>
          <a:ln/>
        </p:spPr>
        <p:txBody>
          <a:bodyPr wrap="square" rtlCol="0" anchor="ctr"/>
          <a:lstStyle/>
          <a:p>
            <a:pPr marL="0" indent="0">
              <a:buNone/>
            </a:pPr>
            <a:r>
              <a:rPr lang="en-US" sz="1900" i="1" dirty="0">
                <a:solidFill>
                  <a:srgbClr val="6FE0EE"/>
                </a:solidFill>
                <a:latin typeface="Calibri" pitchFamily="34" charset="0"/>
                <a:ea typeface="Calibri" pitchFamily="34" charset="-122"/>
                <a:cs typeface="Calibri" pitchFamily="34" charset="-120"/>
              </a:rPr>
              <a:t>사랑하는 동료를 구하기 위한 로봇의 절박한 여정</a:t>
            </a:r>
            <a:endParaRPr lang="en-US" sz="1900" dirty="0"/>
          </a:p>
        </p:txBody>
      </p:sp>
      <p:sp>
        <p:nvSpPr>
          <p:cNvPr id="9" name="Text 6"/>
          <p:cNvSpPr/>
          <p:nvPr/>
        </p:nvSpPr>
        <p:spPr>
          <a:xfrm>
            <a:off x="640080" y="6035040"/>
            <a:ext cx="5486400" cy="36576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이태훈   |   2026-08-04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01  게임 정보와 로그라인</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1 / 7</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게임, 한눈에 보기</a:t>
            </a:r>
            <a:endParaRPr lang="en-US" sz="3200" dirty="0"/>
          </a:p>
        </p:txBody>
      </p:sp>
      <p:sp>
        <p:nvSpPr>
          <p:cNvPr id="5" name="Text 3"/>
          <p:cNvSpPr/>
          <p:nvPr/>
        </p:nvSpPr>
        <p:spPr>
          <a:xfrm>
            <a:off x="548640" y="1737360"/>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장르</a:t>
            </a:r>
            <a:endParaRPr lang="en-US" sz="1300" dirty="0"/>
          </a:p>
        </p:txBody>
      </p:sp>
      <p:sp>
        <p:nvSpPr>
          <p:cNvPr id="6" name="Text 4"/>
          <p:cNvSpPr/>
          <p:nvPr/>
        </p:nvSpPr>
        <p:spPr>
          <a:xfrm>
            <a:off x="2423160" y="1737360"/>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3D SF 액션 로그라이트 TPS (싱글)</a:t>
            </a:r>
            <a:endParaRPr lang="en-US" sz="1300" dirty="0"/>
          </a:p>
        </p:txBody>
      </p:sp>
      <p:sp>
        <p:nvSpPr>
          <p:cNvPr id="7" name="Text 5"/>
          <p:cNvSpPr/>
          <p:nvPr/>
        </p:nvSpPr>
        <p:spPr>
          <a:xfrm>
            <a:off x="548640" y="2304288"/>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플랫폼</a:t>
            </a:r>
            <a:endParaRPr lang="en-US" sz="1300" dirty="0"/>
          </a:p>
        </p:txBody>
      </p:sp>
      <p:sp>
        <p:nvSpPr>
          <p:cNvPr id="8" name="Text 6"/>
          <p:cNvSpPr/>
          <p:nvPr/>
        </p:nvSpPr>
        <p:spPr>
          <a:xfrm>
            <a:off x="2423160" y="2304288"/>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PC</a:t>
            </a:r>
            <a:endParaRPr lang="en-US" sz="1300" dirty="0"/>
          </a:p>
        </p:txBody>
      </p:sp>
      <p:sp>
        <p:nvSpPr>
          <p:cNvPr id="9" name="Text 7"/>
          <p:cNvSpPr/>
          <p:nvPr/>
        </p:nvSpPr>
        <p:spPr>
          <a:xfrm>
            <a:off x="548640" y="2871216"/>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목표 개발 기간</a:t>
            </a:r>
            <a:endParaRPr lang="en-US" sz="1300" dirty="0"/>
          </a:p>
        </p:txBody>
      </p:sp>
      <p:sp>
        <p:nvSpPr>
          <p:cNvPr id="10" name="Text 8"/>
          <p:cNvSpPr/>
          <p:nvPr/>
        </p:nvSpPr>
        <p:spPr>
          <a:xfrm>
            <a:off x="2423160" y="2871216"/>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약 6개월</a:t>
            </a:r>
            <a:endParaRPr lang="en-US" sz="1300" dirty="0"/>
          </a:p>
        </p:txBody>
      </p:sp>
      <p:sp>
        <p:nvSpPr>
          <p:cNvPr id="11" name="Text 9"/>
          <p:cNvSpPr/>
          <p:nvPr/>
        </p:nvSpPr>
        <p:spPr>
          <a:xfrm>
            <a:off x="548640" y="3438144"/>
            <a:ext cx="1828800" cy="457200"/>
          </a:xfrm>
          <a:prstGeom prst="rect">
            <a:avLst/>
          </a:prstGeom>
          <a:noFill/>
          <a:ln/>
        </p:spPr>
        <p:txBody>
          <a:bodyPr wrap="square" rtlCol="0" anchor="ctr"/>
          <a:lstStyle/>
          <a:p>
            <a:pPr marL="0" indent="0">
              <a:buNone/>
            </a:pPr>
            <a:r>
              <a:rPr lang="en-US" sz="1300" b="1" dirty="0">
                <a:solidFill>
                  <a:srgbClr val="F2A65A"/>
                </a:solidFill>
                <a:latin typeface="Calibri" pitchFamily="34" charset="0"/>
                <a:ea typeface="Calibri" pitchFamily="34" charset="-122"/>
                <a:cs typeface="Calibri" pitchFamily="34" charset="-120"/>
              </a:rPr>
              <a:t>제목의 의미</a:t>
            </a:r>
            <a:endParaRPr lang="en-US" sz="1300" dirty="0"/>
          </a:p>
        </p:txBody>
      </p:sp>
      <p:sp>
        <p:nvSpPr>
          <p:cNvPr id="12" name="Text 10"/>
          <p:cNvSpPr/>
          <p:nvPr/>
        </p:nvSpPr>
        <p:spPr>
          <a:xfrm>
            <a:off x="2423160" y="3438144"/>
            <a:ext cx="4663440" cy="45720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'Koi' = 한국어 '사랑' + 감정을 지닌 로봇 주인공의 이름</a:t>
            </a:r>
            <a:endParaRPr lang="en-US" sz="1300" dirty="0"/>
          </a:p>
        </p:txBody>
      </p:sp>
      <p:sp>
        <p:nvSpPr>
          <p:cNvPr id="13" name="Shape 11"/>
          <p:cNvSpPr/>
          <p:nvPr/>
        </p:nvSpPr>
        <p:spPr>
          <a:xfrm>
            <a:off x="548640" y="3986784"/>
            <a:ext cx="6537960" cy="2139696"/>
          </a:xfrm>
          <a:prstGeom prst="rect">
            <a:avLst/>
          </a:prstGeom>
          <a:solidFill>
            <a:srgbClr val="1D2230"/>
          </a:solidFill>
          <a:ln w="12700">
            <a:solidFill>
              <a:srgbClr val="252B3D"/>
            </a:solidFill>
            <a:prstDash val="solid"/>
          </a:ln>
        </p:spPr>
      </p:sp>
      <p:sp>
        <p:nvSpPr>
          <p:cNvPr id="14" name="Text 12"/>
          <p:cNvSpPr/>
          <p:nvPr/>
        </p:nvSpPr>
        <p:spPr>
          <a:xfrm>
            <a:off x="769620" y="4038710"/>
            <a:ext cx="2743200" cy="320040"/>
          </a:xfrm>
          <a:prstGeom prst="rect">
            <a:avLst/>
          </a:prstGeom>
          <a:noFill/>
          <a:ln/>
        </p:spPr>
        <p:txBody>
          <a:bodyPr wrap="square" rtlCol="0" anchor="ctr"/>
          <a:lstStyle/>
          <a:p>
            <a:pPr marL="0" indent="0">
              <a:buNone/>
            </a:pPr>
            <a:r>
              <a:rPr lang="en-US" sz="1200" b="1" kern="0" spc="100" dirty="0">
                <a:solidFill>
                  <a:srgbClr val="6FE0EE"/>
                </a:solidFill>
                <a:latin typeface="Calibri" pitchFamily="34" charset="0"/>
                <a:ea typeface="Calibri" pitchFamily="34" charset="-122"/>
                <a:cs typeface="Calibri" pitchFamily="34" charset="-120"/>
              </a:rPr>
              <a:t>로그라인</a:t>
            </a:r>
            <a:endParaRPr lang="en-US" sz="1200" dirty="0"/>
          </a:p>
        </p:txBody>
      </p:sp>
      <p:sp>
        <p:nvSpPr>
          <p:cNvPr id="15" name="Text 13"/>
          <p:cNvSpPr/>
          <p:nvPr/>
        </p:nvSpPr>
        <p:spPr>
          <a:xfrm>
            <a:off x="723886" y="5093208"/>
            <a:ext cx="6035040" cy="1188720"/>
          </a:xfrm>
          <a:prstGeom prst="rect">
            <a:avLst/>
          </a:prstGeom>
          <a:noFill/>
          <a:ln/>
        </p:spPr>
        <p:txBody>
          <a:bodyPr wrap="square" rtlCol="0" anchor="ctr"/>
          <a:lstStyle/>
          <a:p>
            <a:pPr marL="0" indent="0">
              <a:lnSpc>
                <a:spcPct val="125000"/>
              </a:lnSpc>
              <a:buNone/>
            </a:pPr>
            <a:r>
              <a:rPr lang="en-US" sz="1350" i="1" dirty="0">
                <a:solidFill>
                  <a:srgbClr val="F4F4F1"/>
                </a:solidFill>
                <a:latin typeface="Calibri" pitchFamily="34" charset="0"/>
                <a:ea typeface="Calibri" pitchFamily="34" charset="-122"/>
                <a:cs typeface="Calibri" pitchFamily="34" charset="-120"/>
              </a:rPr>
              <a:t>인간에게 침략당한 행성 코르비스. 로봇 Koi는 불법 암거래로 납치된</a:t>
            </a:r>
            <a:endParaRPr lang="en-US" sz="1350" dirty="0"/>
          </a:p>
          <a:p>
            <a:pPr marL="0" indent="0">
              <a:lnSpc>
                <a:spcPct val="125000"/>
              </a:lnSpc>
              <a:buNone/>
            </a:pPr>
            <a:r>
              <a:rPr lang="en-US" sz="1350" i="1" dirty="0">
                <a:solidFill>
                  <a:srgbClr val="F4F4F1"/>
                </a:solidFill>
                <a:latin typeface="Calibri" pitchFamily="34" charset="0"/>
                <a:ea typeface="Calibri" pitchFamily="34" charset="-122"/>
                <a:cs typeface="Calibri" pitchFamily="34" charset="-120"/>
              </a:rPr>
              <a:t>친구 Roi를 구하기 위해 몰래 우주선에 탑승하고, 위험한 구출 여정을</a:t>
            </a:r>
            <a:endParaRPr lang="en-US" sz="1350" dirty="0"/>
          </a:p>
          <a:p>
            <a:pPr marL="0" indent="0">
              <a:lnSpc>
                <a:spcPct val="125000"/>
              </a:lnSpc>
              <a:buNone/>
            </a:pPr>
            <a:r>
              <a:rPr lang="en-US" sz="1350" i="1" dirty="0">
                <a:solidFill>
                  <a:srgbClr val="F4F4F1"/>
                </a:solidFill>
                <a:latin typeface="Calibri" pitchFamily="34" charset="0"/>
                <a:ea typeface="Calibri" pitchFamily="34" charset="-122"/>
                <a:cs typeface="Calibri" pitchFamily="34" charset="-120"/>
              </a:rPr>
              <a:t>시작한다.</a:t>
            </a:r>
            <a:endParaRPr lang="en-US" sz="1350" dirty="0"/>
          </a:p>
        </p:txBody>
      </p:sp>
      <p:pic>
        <p:nvPicPr>
          <p:cNvPr id="16" name="Image 0" descr="assets/robots.jpg"/>
          <p:cNvPicPr>
            <a:picLocks noChangeAspect="1"/>
          </p:cNvPicPr>
          <p:nvPr/>
        </p:nvPicPr>
        <p:blipFill>
          <a:blip r:embed="rId3"/>
          <a:srcRect/>
          <a:stretch/>
        </p:blipFill>
        <p:spPr>
          <a:xfrm>
            <a:off x="7452360" y="1737360"/>
            <a:ext cx="4206240" cy="4389120"/>
          </a:xfrm>
          <a:prstGeom prst="rect">
            <a:avLst/>
          </a:prstGeom>
        </p:spPr>
      </p:pic>
      <p:sp>
        <p:nvSpPr>
          <p:cNvPr id="17" name="Shape 14"/>
          <p:cNvSpPr/>
          <p:nvPr/>
        </p:nvSpPr>
        <p:spPr>
          <a:xfrm>
            <a:off x="7452360" y="1737360"/>
            <a:ext cx="4206240" cy="4389120"/>
          </a:xfrm>
          <a:prstGeom prst="rect">
            <a:avLst/>
          </a:prstGeom>
          <a:ln w="19050">
            <a:solidFill>
              <a:srgbClr val="252B3D"/>
            </a:solidFill>
            <a:prstDash val="solid"/>
          </a:ln>
        </p:spPr>
      </p:sp>
      <p:sp>
        <p:nvSpPr>
          <p:cNvPr id="18" name="Text 15"/>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
        <p:nvSpPr>
          <p:cNvPr id="21" name="TextBox 20">
            <a:extLst>
              <a:ext uri="{FF2B5EF4-FFF2-40B4-BE49-F238E27FC236}">
                <a16:creationId xmlns:a16="http://schemas.microsoft.com/office/drawing/2014/main" id="{2E57C0E5-AAD6-4814-8681-57C864ADB02E}"/>
              </a:ext>
            </a:extLst>
          </p:cNvPr>
          <p:cNvSpPr txBox="1"/>
          <p:nvPr/>
        </p:nvSpPr>
        <p:spPr>
          <a:xfrm>
            <a:off x="723886" y="4317602"/>
            <a:ext cx="6096000" cy="715581"/>
          </a:xfrm>
          <a:prstGeom prst="rect">
            <a:avLst/>
          </a:prstGeom>
          <a:noFill/>
        </p:spPr>
        <p:txBody>
          <a:bodyPr wrap="square">
            <a:spAutoFit/>
          </a:bodyPr>
          <a:lstStyle/>
          <a:p>
            <a:r>
              <a:rPr lang="ko-KR" altLang="en-US" sz="1350" i="1" dirty="0">
                <a:solidFill>
                  <a:schemeClr val="bg1"/>
                </a:solidFill>
              </a:rPr>
              <a:t>플레이어는 주인공이 되어 무기와 자원을 활용해 적을 물리치고</a:t>
            </a:r>
            <a:r>
              <a:rPr lang="en-US" altLang="ko-KR" sz="1350" i="1" dirty="0">
                <a:solidFill>
                  <a:schemeClr val="bg1"/>
                </a:solidFill>
              </a:rPr>
              <a:t>, </a:t>
            </a:r>
            <a:r>
              <a:rPr lang="ko-KR" altLang="en-US" sz="1350" i="1" dirty="0">
                <a:solidFill>
                  <a:schemeClr val="bg1"/>
                </a:solidFill>
              </a:rPr>
              <a:t>곳곳에 흩어진 친구 </a:t>
            </a:r>
            <a:r>
              <a:rPr lang="en-US" altLang="ko-KR" sz="1350" i="1" dirty="0">
                <a:solidFill>
                  <a:schemeClr val="bg1"/>
                </a:solidFill>
              </a:rPr>
              <a:t>Roi</a:t>
            </a:r>
            <a:r>
              <a:rPr lang="ko-KR" altLang="en-US" sz="1350" i="1" dirty="0">
                <a:solidFill>
                  <a:schemeClr val="bg1"/>
                </a:solidFill>
              </a:rPr>
              <a:t>의 부품을 찾아 구출한 뒤 최종 보스를 쓰러뜨리는 액션 </a:t>
            </a:r>
            <a:r>
              <a:rPr lang="ko-KR" altLang="en-US" sz="1350" i="1" dirty="0" err="1">
                <a:solidFill>
                  <a:schemeClr val="bg1"/>
                </a:solidFill>
              </a:rPr>
              <a:t>로그라이트</a:t>
            </a:r>
            <a:r>
              <a:rPr lang="ko-KR" altLang="en-US" sz="1350" i="1" dirty="0">
                <a:solidFill>
                  <a:schemeClr val="bg1"/>
                </a:solidFill>
              </a:rPr>
              <a:t> 게임입니다</a:t>
            </a:r>
            <a:r>
              <a:rPr lang="en-US" altLang="ko-KR" sz="1350" i="1" dirty="0">
                <a:solidFill>
                  <a:schemeClr val="bg1"/>
                </a:solidFill>
              </a:rPr>
              <a:t>.</a:t>
            </a:r>
            <a:endParaRPr lang="ko-KR" altLang="en-US" sz="1350" i="1" dirty="0">
              <a:solidFill>
                <a:schemeClr val="bg1"/>
              </a:solidFill>
            </a:endParaRPr>
          </a:p>
        </p:txBody>
      </p:sp>
      <p:sp>
        <p:nvSpPr>
          <p:cNvPr id="22" name="Text 12">
            <a:extLst>
              <a:ext uri="{FF2B5EF4-FFF2-40B4-BE49-F238E27FC236}">
                <a16:creationId xmlns:a16="http://schemas.microsoft.com/office/drawing/2014/main" id="{5FCBB87B-3875-4E2A-A98D-9398AC44B974}"/>
              </a:ext>
            </a:extLst>
          </p:cNvPr>
          <p:cNvSpPr/>
          <p:nvPr/>
        </p:nvSpPr>
        <p:spPr>
          <a:xfrm>
            <a:off x="769620" y="5010323"/>
            <a:ext cx="2743200" cy="320040"/>
          </a:xfrm>
          <a:prstGeom prst="rect">
            <a:avLst/>
          </a:prstGeom>
          <a:noFill/>
          <a:ln/>
        </p:spPr>
        <p:txBody>
          <a:bodyPr wrap="square" rtlCol="0" anchor="ctr"/>
          <a:lstStyle/>
          <a:p>
            <a:pPr marL="0" indent="0">
              <a:buNone/>
            </a:pPr>
            <a:r>
              <a:rPr lang="ko-KR" altLang="en-US" sz="1200" b="1" kern="0" spc="100" dirty="0">
                <a:solidFill>
                  <a:srgbClr val="6FE0EE"/>
                </a:solidFill>
                <a:latin typeface="Calibri" pitchFamily="34" charset="0"/>
                <a:ea typeface="Calibri" pitchFamily="34" charset="-122"/>
                <a:cs typeface="Calibri" pitchFamily="34" charset="-120"/>
              </a:rPr>
              <a:t>시놉시스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02  타겟 사용자</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2 / 7</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타겟 사용자</a:t>
            </a:r>
            <a:endParaRPr lang="en-US" sz="3200" dirty="0"/>
          </a:p>
        </p:txBody>
      </p:sp>
      <p:sp>
        <p:nvSpPr>
          <p:cNvPr id="5" name="Shape 3"/>
          <p:cNvSpPr/>
          <p:nvPr/>
        </p:nvSpPr>
        <p:spPr>
          <a:xfrm>
            <a:off x="548640" y="1874520"/>
            <a:ext cx="3520440" cy="2286000"/>
          </a:xfrm>
          <a:prstGeom prst="rect">
            <a:avLst/>
          </a:prstGeom>
          <a:solidFill>
            <a:srgbClr val="1D2230"/>
          </a:solidFill>
          <a:ln w="12700">
            <a:solidFill>
              <a:srgbClr val="252B3D"/>
            </a:solidFill>
            <a:prstDash val="solid"/>
          </a:ln>
        </p:spPr>
      </p:sp>
      <p:sp>
        <p:nvSpPr>
          <p:cNvPr id="6" name="Text 4"/>
          <p:cNvSpPr/>
          <p:nvPr/>
        </p:nvSpPr>
        <p:spPr>
          <a:xfrm>
            <a:off x="548640" y="2057400"/>
            <a:ext cx="3520440" cy="960120"/>
          </a:xfrm>
          <a:prstGeom prst="rect">
            <a:avLst/>
          </a:prstGeom>
          <a:noFill/>
          <a:ln/>
        </p:spPr>
        <p:txBody>
          <a:bodyPr wrap="square" lIns="0" tIns="0" rIns="0" bIns="0" rtlCol="0" anchor="ctr"/>
          <a:lstStyle/>
          <a:p>
            <a:pPr marL="0" indent="0" algn="ctr">
              <a:buNone/>
            </a:pPr>
            <a:r>
              <a:rPr lang="en-US" sz="4000" b="1" dirty="0">
                <a:solidFill>
                  <a:srgbClr val="F2A65A"/>
                </a:solidFill>
                <a:latin typeface="Century Schoolbook" pitchFamily="34" charset="0"/>
                <a:ea typeface="Century Schoolbook" pitchFamily="34" charset="-122"/>
                <a:cs typeface="Century Schoolbook" pitchFamily="34" charset="-120"/>
              </a:rPr>
              <a:t>70.8%</a:t>
            </a:r>
            <a:endParaRPr lang="en-US" sz="4000" dirty="0"/>
          </a:p>
        </p:txBody>
      </p:sp>
      <p:sp>
        <p:nvSpPr>
          <p:cNvPr id="7" name="Text 5"/>
          <p:cNvSpPr/>
          <p:nvPr/>
        </p:nvSpPr>
        <p:spPr>
          <a:xfrm>
            <a:off x="548640" y="3063240"/>
            <a:ext cx="3520440" cy="914400"/>
          </a:xfrm>
          <a:prstGeom prst="rect">
            <a:avLst/>
          </a:prstGeom>
          <a:noFill/>
          <a:ln/>
        </p:spPr>
        <p:txBody>
          <a:bodyPr wrap="square" rtlCol="0" anchor="t"/>
          <a:lstStyle/>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PC 게임 남성 이용률</a:t>
            </a:r>
            <a:endParaRPr lang="en-US" sz="1300" dirty="0"/>
          </a:p>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(여성 40.8%)</a:t>
            </a:r>
            <a:endParaRPr lang="en-US" sz="1300" dirty="0"/>
          </a:p>
        </p:txBody>
      </p:sp>
      <p:sp>
        <p:nvSpPr>
          <p:cNvPr id="8" name="Shape 6"/>
          <p:cNvSpPr/>
          <p:nvPr/>
        </p:nvSpPr>
        <p:spPr>
          <a:xfrm>
            <a:off x="4389120" y="1874520"/>
            <a:ext cx="3520440" cy="2286000"/>
          </a:xfrm>
          <a:prstGeom prst="rect">
            <a:avLst/>
          </a:prstGeom>
          <a:solidFill>
            <a:srgbClr val="1D2230"/>
          </a:solidFill>
          <a:ln w="12700">
            <a:solidFill>
              <a:srgbClr val="252B3D"/>
            </a:solidFill>
            <a:prstDash val="solid"/>
          </a:ln>
        </p:spPr>
      </p:sp>
      <p:sp>
        <p:nvSpPr>
          <p:cNvPr id="9" name="Text 7"/>
          <p:cNvSpPr/>
          <p:nvPr/>
        </p:nvSpPr>
        <p:spPr>
          <a:xfrm>
            <a:off x="4389120" y="2057400"/>
            <a:ext cx="3520440" cy="960120"/>
          </a:xfrm>
          <a:prstGeom prst="rect">
            <a:avLst/>
          </a:prstGeom>
          <a:noFill/>
          <a:ln/>
        </p:spPr>
        <p:txBody>
          <a:bodyPr wrap="square" lIns="0" tIns="0" rIns="0" bIns="0" rtlCol="0" anchor="ctr"/>
          <a:lstStyle/>
          <a:p>
            <a:pPr marL="0" indent="0" algn="ctr">
              <a:buNone/>
            </a:pPr>
            <a:r>
              <a:rPr lang="en-US" sz="4000" b="1" dirty="0">
                <a:solidFill>
                  <a:srgbClr val="F2A65A"/>
                </a:solidFill>
                <a:latin typeface="Century Schoolbook" pitchFamily="34" charset="0"/>
                <a:ea typeface="Century Schoolbook" pitchFamily="34" charset="-122"/>
                <a:cs typeface="Century Schoolbook" pitchFamily="34" charset="-120"/>
              </a:rPr>
              <a:t>47.2%</a:t>
            </a:r>
            <a:endParaRPr lang="en-US" sz="4000" dirty="0"/>
          </a:p>
        </p:txBody>
      </p:sp>
      <p:sp>
        <p:nvSpPr>
          <p:cNvPr id="10" name="Text 8"/>
          <p:cNvSpPr/>
          <p:nvPr/>
        </p:nvSpPr>
        <p:spPr>
          <a:xfrm>
            <a:off x="4389120" y="3063240"/>
            <a:ext cx="3520440" cy="914400"/>
          </a:xfrm>
          <a:prstGeom prst="rect">
            <a:avLst/>
          </a:prstGeom>
          <a:noFill/>
          <a:ln/>
        </p:spPr>
        <p:txBody>
          <a:bodyPr wrap="square" rtlCol="0" anchor="t"/>
          <a:lstStyle/>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PC 이용 장르 1위</a:t>
            </a:r>
            <a:endParaRPr lang="en-US" sz="1300" dirty="0"/>
          </a:p>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슈팅(FPS/TPS)</a:t>
            </a:r>
            <a:endParaRPr lang="en-US" sz="1300" dirty="0"/>
          </a:p>
        </p:txBody>
      </p:sp>
      <p:sp>
        <p:nvSpPr>
          <p:cNvPr id="11" name="Shape 9"/>
          <p:cNvSpPr/>
          <p:nvPr/>
        </p:nvSpPr>
        <p:spPr>
          <a:xfrm>
            <a:off x="8229600" y="1874520"/>
            <a:ext cx="3520440" cy="2286000"/>
          </a:xfrm>
          <a:prstGeom prst="rect">
            <a:avLst/>
          </a:prstGeom>
          <a:solidFill>
            <a:srgbClr val="1D2230"/>
          </a:solidFill>
          <a:ln w="12700">
            <a:solidFill>
              <a:srgbClr val="252B3D"/>
            </a:solidFill>
            <a:prstDash val="solid"/>
          </a:ln>
        </p:spPr>
      </p:sp>
      <p:sp>
        <p:nvSpPr>
          <p:cNvPr id="12" name="Text 10"/>
          <p:cNvSpPr/>
          <p:nvPr/>
        </p:nvSpPr>
        <p:spPr>
          <a:xfrm>
            <a:off x="8229600" y="2057400"/>
            <a:ext cx="3520440" cy="960120"/>
          </a:xfrm>
          <a:prstGeom prst="rect">
            <a:avLst/>
          </a:prstGeom>
          <a:noFill/>
          <a:ln/>
        </p:spPr>
        <p:txBody>
          <a:bodyPr wrap="square" lIns="0" tIns="0" rIns="0" bIns="0" rtlCol="0" anchor="ctr"/>
          <a:lstStyle/>
          <a:p>
            <a:pPr marL="0" indent="0" algn="ctr">
              <a:buNone/>
            </a:pPr>
            <a:r>
              <a:rPr lang="en-US" sz="4000" b="1" dirty="0">
                <a:solidFill>
                  <a:srgbClr val="F2A65A"/>
                </a:solidFill>
                <a:latin typeface="Century Schoolbook" pitchFamily="34" charset="0"/>
                <a:ea typeface="Century Schoolbook" pitchFamily="34" charset="-122"/>
                <a:cs typeface="Century Schoolbook" pitchFamily="34" charset="-120"/>
              </a:rPr>
              <a:t>10~20대</a:t>
            </a:r>
            <a:endParaRPr lang="en-US" sz="4000" dirty="0"/>
          </a:p>
        </p:txBody>
      </p:sp>
      <p:sp>
        <p:nvSpPr>
          <p:cNvPr id="13" name="Text 11"/>
          <p:cNvSpPr/>
          <p:nvPr/>
        </p:nvSpPr>
        <p:spPr>
          <a:xfrm>
            <a:off x="8229600" y="3063240"/>
            <a:ext cx="3520440" cy="914400"/>
          </a:xfrm>
          <a:prstGeom prst="rect">
            <a:avLst/>
          </a:prstGeom>
          <a:noFill/>
          <a:ln/>
        </p:spPr>
        <p:txBody>
          <a:bodyPr wrap="square" rtlCol="0" anchor="t"/>
          <a:lstStyle/>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로그라이트 + TPS</a:t>
            </a:r>
            <a:endParaRPr lang="en-US" sz="1300" dirty="0"/>
          </a:p>
          <a:p>
            <a:pPr marL="0" indent="0" algn="ctr">
              <a:lnSpc>
                <a:spcPct val="120000"/>
              </a:lnSpc>
              <a:buNone/>
            </a:pPr>
            <a:r>
              <a:rPr lang="en-US" sz="1300" dirty="0">
                <a:solidFill>
                  <a:srgbClr val="F4F4F1"/>
                </a:solidFill>
                <a:latin typeface="Calibri" pitchFamily="34" charset="0"/>
                <a:ea typeface="Calibri" pitchFamily="34" charset="-122"/>
                <a:cs typeface="Calibri" pitchFamily="34" charset="-120"/>
              </a:rPr>
              <a:t>핵심 타겟 연령</a:t>
            </a:r>
            <a:endParaRPr lang="en-US" sz="1300" dirty="0"/>
          </a:p>
        </p:txBody>
      </p:sp>
      <p:sp>
        <p:nvSpPr>
          <p:cNvPr id="14" name="Shape 12"/>
          <p:cNvSpPr/>
          <p:nvPr/>
        </p:nvSpPr>
        <p:spPr>
          <a:xfrm>
            <a:off x="548640" y="4526280"/>
            <a:ext cx="11064240" cy="1600200"/>
          </a:xfrm>
          <a:prstGeom prst="rect">
            <a:avLst/>
          </a:prstGeom>
          <a:solidFill>
            <a:srgbClr val="1D2230"/>
          </a:solidFill>
          <a:ln w="12700">
            <a:solidFill>
              <a:srgbClr val="252B3D"/>
            </a:solidFill>
            <a:prstDash val="solid"/>
          </a:ln>
        </p:spPr>
      </p:sp>
      <p:sp>
        <p:nvSpPr>
          <p:cNvPr id="15" name="Text 13"/>
          <p:cNvSpPr/>
          <p:nvPr/>
        </p:nvSpPr>
        <p:spPr>
          <a:xfrm>
            <a:off x="822960" y="4709160"/>
            <a:ext cx="10515600" cy="1280160"/>
          </a:xfrm>
          <a:prstGeom prst="rect">
            <a:avLst/>
          </a:prstGeom>
          <a:noFill/>
          <a:ln/>
        </p:spPr>
        <p:txBody>
          <a:bodyPr wrap="square" rtlCol="0" anchor="ctr"/>
          <a:lstStyle/>
          <a:p>
            <a:pPr marL="0" indent="0">
              <a:lnSpc>
                <a:spcPct val="130000"/>
              </a:lnSpc>
              <a:buNone/>
            </a:pPr>
            <a:r>
              <a:rPr lang="en-US" sz="1300" dirty="0">
                <a:solidFill>
                  <a:srgbClr val="F4F4F1"/>
                </a:solidFill>
                <a:latin typeface="Calibri" pitchFamily="34" charset="0"/>
                <a:ea typeface="Calibri" pitchFamily="34" charset="-122"/>
                <a:cs typeface="Calibri" pitchFamily="34" charset="-120"/>
              </a:rPr>
              <a:t>2025 대한민국 게임백서에 따르면 PC 게임 이용률은 남성이 여성보다 높고, 슈팅(TPS) 장르가 전 연령대에서 가장 높은 이용률을 보이며 특히 10대의 이용률이 두드러집니다. Koi AI는 로그라이트에 TPS 요소를 결합해 10~20대 남성을 핵심 타겟으로 설정하였습니다.</a:t>
            </a:r>
            <a:endParaRPr lang="en-US" sz="1300" dirty="0"/>
          </a:p>
        </p:txBody>
      </p:sp>
      <p:sp>
        <p:nvSpPr>
          <p:cNvPr id="16" name="Text 14"/>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03  시장과 유사 게임 분석</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3 / 7</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유사 게임 분석 &amp; 차별화</a:t>
            </a:r>
            <a:endParaRPr lang="en-US" sz="3200" dirty="0"/>
          </a:p>
        </p:txBody>
      </p:sp>
      <p:pic>
        <p:nvPicPr>
          <p:cNvPr id="5" name="Image 0" descr="assets/arcrunner.jpg"/>
          <p:cNvPicPr>
            <a:picLocks noChangeAspect="1"/>
          </p:cNvPicPr>
          <p:nvPr/>
        </p:nvPicPr>
        <p:blipFill>
          <a:blip r:embed="rId3"/>
          <a:srcRect/>
          <a:stretch/>
        </p:blipFill>
        <p:spPr>
          <a:xfrm>
            <a:off x="548640" y="1783080"/>
            <a:ext cx="5349240" cy="1874520"/>
          </a:xfrm>
          <a:prstGeom prst="rect">
            <a:avLst/>
          </a:prstGeom>
        </p:spPr>
      </p:pic>
      <p:sp>
        <p:nvSpPr>
          <p:cNvPr id="6" name="Text 3"/>
          <p:cNvSpPr/>
          <p:nvPr/>
        </p:nvSpPr>
        <p:spPr>
          <a:xfrm>
            <a:off x="548640" y="3703320"/>
            <a:ext cx="5349240" cy="320040"/>
          </a:xfrm>
          <a:prstGeom prst="rect">
            <a:avLst/>
          </a:prstGeom>
          <a:noFill/>
          <a:ln/>
        </p:spPr>
        <p:txBody>
          <a:bodyPr wrap="square" rtlCol="0" anchor="ctr"/>
          <a:lstStyle/>
          <a:p>
            <a:pPr marL="0" indent="0">
              <a:buNone/>
            </a:pPr>
            <a:r>
              <a:rPr lang="en-US" sz="1400" b="1" dirty="0">
                <a:solidFill>
                  <a:srgbClr val="F2A65A"/>
                </a:solidFill>
                <a:latin typeface="Calibri" pitchFamily="34" charset="0"/>
                <a:ea typeface="Calibri" pitchFamily="34" charset="-122"/>
                <a:cs typeface="Calibri" pitchFamily="34" charset="-120"/>
              </a:rPr>
              <a:t>아크러너</a:t>
            </a:r>
            <a:endParaRPr lang="en-US" sz="1400" dirty="0"/>
          </a:p>
        </p:txBody>
      </p:sp>
      <p:sp>
        <p:nvSpPr>
          <p:cNvPr id="7" name="Text 4"/>
          <p:cNvSpPr/>
          <p:nvPr/>
        </p:nvSpPr>
        <p:spPr>
          <a:xfrm>
            <a:off x="548640" y="4050792"/>
            <a:ext cx="5349240" cy="777240"/>
          </a:xfrm>
          <a:prstGeom prst="rect">
            <a:avLst/>
          </a:prstGeom>
          <a:noFill/>
          <a:ln/>
        </p:spPr>
        <p:txBody>
          <a:bodyPr wrap="square" rtlCol="0" anchor="ctr"/>
          <a:lstStyle/>
          <a:p>
            <a:pPr marL="0" indent="0">
              <a:lnSpc>
                <a:spcPct val="125000"/>
              </a:lnSpc>
              <a:buNone/>
            </a:pPr>
            <a:r>
              <a:rPr lang="en-US" sz="1200" b="1" dirty="0">
                <a:solidFill>
                  <a:srgbClr val="6FCF97"/>
                </a:solidFill>
                <a:latin typeface="Calibri" pitchFamily="34" charset="0"/>
                <a:ea typeface="Calibri" pitchFamily="34" charset="-122"/>
                <a:cs typeface="Calibri" pitchFamily="34" charset="-120"/>
              </a:rPr>
              <a:t>장점  </a:t>
            </a:r>
            <a:r>
              <a:rPr lang="en-US" sz="1200" dirty="0">
                <a:solidFill>
                  <a:srgbClr val="F4F4F1"/>
                </a:solidFill>
                <a:latin typeface="Calibri" pitchFamily="34" charset="0"/>
                <a:ea typeface="Calibri" pitchFamily="34" charset="-122"/>
                <a:cs typeface="Calibri" pitchFamily="34" charset="-120"/>
              </a:rPr>
              <a:t>조합형 전투 스타일, 사이버펑크 몰입감
</a:t>
            </a:r>
            <a:r>
              <a:rPr lang="en-US" sz="1200" b="1" dirty="0">
                <a:solidFill>
                  <a:srgbClr val="E8836A"/>
                </a:solidFill>
                <a:latin typeface="Calibri" pitchFamily="34" charset="0"/>
                <a:ea typeface="Calibri" pitchFamily="34" charset="-122"/>
                <a:cs typeface="Calibri" pitchFamily="34" charset="-120"/>
              </a:rPr>
              <a:t>단점  </a:t>
            </a:r>
            <a:r>
              <a:rPr lang="en-US" sz="1200" dirty="0">
                <a:solidFill>
                  <a:srgbClr val="F4F4F1"/>
                </a:solidFill>
                <a:latin typeface="Calibri" pitchFamily="34" charset="0"/>
                <a:ea typeface="Calibri" pitchFamily="34" charset="-122"/>
                <a:cs typeface="Calibri" pitchFamily="34" charset="-120"/>
              </a:rPr>
              <a:t>콘텐츠·맵 다양성 아쉬움</a:t>
            </a:r>
            <a:endParaRPr lang="en-US" sz="1200" dirty="0"/>
          </a:p>
        </p:txBody>
      </p:sp>
      <p:pic>
        <p:nvPicPr>
          <p:cNvPr id="8" name="Image 1" descr="assets/risk2.jpg"/>
          <p:cNvPicPr>
            <a:picLocks noChangeAspect="1"/>
          </p:cNvPicPr>
          <p:nvPr/>
        </p:nvPicPr>
        <p:blipFill>
          <a:blip r:embed="rId4"/>
          <a:srcRect/>
          <a:stretch/>
        </p:blipFill>
        <p:spPr>
          <a:xfrm>
            <a:off x="6291072" y="1783080"/>
            <a:ext cx="5349240" cy="1874520"/>
          </a:xfrm>
          <a:prstGeom prst="rect">
            <a:avLst/>
          </a:prstGeom>
        </p:spPr>
      </p:pic>
      <p:sp>
        <p:nvSpPr>
          <p:cNvPr id="9" name="Text 5"/>
          <p:cNvSpPr/>
          <p:nvPr/>
        </p:nvSpPr>
        <p:spPr>
          <a:xfrm>
            <a:off x="6291072" y="3703320"/>
            <a:ext cx="5349240" cy="320040"/>
          </a:xfrm>
          <a:prstGeom prst="rect">
            <a:avLst/>
          </a:prstGeom>
          <a:noFill/>
          <a:ln/>
        </p:spPr>
        <p:txBody>
          <a:bodyPr wrap="square" rtlCol="0" anchor="ctr"/>
          <a:lstStyle/>
          <a:p>
            <a:pPr marL="0" indent="0">
              <a:buNone/>
            </a:pPr>
            <a:r>
              <a:rPr lang="en-US" sz="1400" b="1" dirty="0">
                <a:solidFill>
                  <a:srgbClr val="F2A65A"/>
                </a:solidFill>
                <a:latin typeface="Calibri" pitchFamily="34" charset="0"/>
                <a:ea typeface="Calibri" pitchFamily="34" charset="-122"/>
                <a:cs typeface="Calibri" pitchFamily="34" charset="-120"/>
              </a:rPr>
              <a:t>리스크 오브 레인 2</a:t>
            </a:r>
            <a:endParaRPr lang="en-US" sz="1400" dirty="0"/>
          </a:p>
        </p:txBody>
      </p:sp>
      <p:sp>
        <p:nvSpPr>
          <p:cNvPr id="10" name="Text 6"/>
          <p:cNvSpPr/>
          <p:nvPr/>
        </p:nvSpPr>
        <p:spPr>
          <a:xfrm>
            <a:off x="6291072" y="4050792"/>
            <a:ext cx="5349240" cy="777240"/>
          </a:xfrm>
          <a:prstGeom prst="rect">
            <a:avLst/>
          </a:prstGeom>
          <a:noFill/>
          <a:ln/>
        </p:spPr>
        <p:txBody>
          <a:bodyPr wrap="square" rtlCol="0" anchor="ctr"/>
          <a:lstStyle/>
          <a:p>
            <a:pPr marL="0" indent="0">
              <a:lnSpc>
                <a:spcPct val="125000"/>
              </a:lnSpc>
              <a:buNone/>
            </a:pPr>
            <a:r>
              <a:rPr lang="en-US" sz="1200" b="1" dirty="0">
                <a:solidFill>
                  <a:srgbClr val="6FCF97"/>
                </a:solidFill>
                <a:latin typeface="Calibri" pitchFamily="34" charset="0"/>
                <a:ea typeface="Calibri" pitchFamily="34" charset="-122"/>
                <a:cs typeface="Calibri" pitchFamily="34" charset="-120"/>
              </a:rPr>
              <a:t>장점  </a:t>
            </a:r>
            <a:r>
              <a:rPr lang="en-US" sz="1200" dirty="0">
                <a:solidFill>
                  <a:srgbClr val="F4F4F1"/>
                </a:solidFill>
                <a:latin typeface="Calibri" pitchFamily="34" charset="0"/>
                <a:ea typeface="Calibri" pitchFamily="34" charset="-122"/>
                <a:cs typeface="Calibri" pitchFamily="34" charset="-120"/>
              </a:rPr>
              <a:t>폭발적 성장, 매 판마다 달라지는 전략
</a:t>
            </a:r>
            <a:r>
              <a:rPr lang="en-US" sz="1200" b="1" dirty="0">
                <a:solidFill>
                  <a:srgbClr val="E8836A"/>
                </a:solidFill>
                <a:latin typeface="Calibri" pitchFamily="34" charset="0"/>
                <a:ea typeface="Calibri" pitchFamily="34" charset="-122"/>
                <a:cs typeface="Calibri" pitchFamily="34" charset="-120"/>
              </a:rPr>
              <a:t>단점  </a:t>
            </a:r>
            <a:r>
              <a:rPr lang="en-US" sz="1200" dirty="0">
                <a:solidFill>
                  <a:srgbClr val="F4F4F1"/>
                </a:solidFill>
                <a:latin typeface="Calibri" pitchFamily="34" charset="0"/>
                <a:ea typeface="Calibri" pitchFamily="34" charset="-122"/>
                <a:cs typeface="Calibri" pitchFamily="34" charset="-120"/>
              </a:rPr>
              <a:t>운 의존도 높고 후반 난이도 부담</a:t>
            </a:r>
            <a:endParaRPr lang="en-US" sz="1200" dirty="0"/>
          </a:p>
        </p:txBody>
      </p:sp>
      <p:sp>
        <p:nvSpPr>
          <p:cNvPr id="11" name="Shape 7"/>
          <p:cNvSpPr/>
          <p:nvPr/>
        </p:nvSpPr>
        <p:spPr>
          <a:xfrm>
            <a:off x="548640" y="5074920"/>
            <a:ext cx="11064240" cy="1097280"/>
          </a:xfrm>
          <a:prstGeom prst="rect">
            <a:avLst/>
          </a:prstGeom>
          <a:solidFill>
            <a:srgbClr val="1D2230"/>
          </a:solidFill>
          <a:ln w="12700">
            <a:solidFill>
              <a:srgbClr val="F2A65A"/>
            </a:solidFill>
            <a:prstDash val="solid"/>
          </a:ln>
        </p:spPr>
      </p:sp>
      <p:sp>
        <p:nvSpPr>
          <p:cNvPr id="12" name="Text 8"/>
          <p:cNvSpPr/>
          <p:nvPr/>
        </p:nvSpPr>
        <p:spPr>
          <a:xfrm>
            <a:off x="822960" y="5074920"/>
            <a:ext cx="10515600" cy="1097280"/>
          </a:xfrm>
          <a:prstGeom prst="rect">
            <a:avLst/>
          </a:prstGeom>
          <a:noFill/>
          <a:ln/>
        </p:spPr>
        <p:txBody>
          <a:bodyPr wrap="square" rtlCol="0" anchor="ctr"/>
          <a:lstStyle/>
          <a:p>
            <a:pPr marL="0" indent="0">
              <a:lnSpc>
                <a:spcPct val="125000"/>
              </a:lnSpc>
              <a:buNone/>
            </a:pPr>
            <a:r>
              <a:rPr lang="en-US" sz="1300" b="1" dirty="0">
                <a:solidFill>
                  <a:srgbClr val="F2A65A"/>
                </a:solidFill>
                <a:latin typeface="Calibri" pitchFamily="34" charset="0"/>
                <a:ea typeface="Calibri" pitchFamily="34" charset="-122"/>
                <a:cs typeface="Calibri" pitchFamily="34" charset="-120"/>
              </a:rPr>
              <a:t>Koi AI의 차별화   </a:t>
            </a:r>
            <a:r>
              <a:rPr lang="en-US" sz="1300" dirty="0">
                <a:solidFill>
                  <a:srgbClr val="F4F4F1"/>
                </a:solidFill>
                <a:latin typeface="Calibri" pitchFamily="34" charset="0"/>
                <a:ea typeface="Calibri" pitchFamily="34" charset="-122"/>
                <a:cs typeface="Calibri" pitchFamily="34" charset="-120"/>
              </a:rPr>
              <a:t>조합형 무기·성장의 손맛은 가져오되, 아이템 밸런스로 운 의존도를 낮추고 영상 튜토리얼로 진입장벽을 낮춥니다.</a:t>
            </a:r>
            <a:endParaRPr lang="en-US" sz="1300" dirty="0"/>
          </a:p>
        </p:txBody>
      </p:sp>
      <p:sp>
        <p:nvSpPr>
          <p:cNvPr id="13" name="Text 9"/>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05  세계관 / 캐릭터 / 배경</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4 / 7</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세계관 — 행성 코르비스</a:t>
            </a:r>
            <a:endParaRPr lang="en-US" sz="3200" dirty="0"/>
          </a:p>
        </p:txBody>
      </p:sp>
      <p:sp>
        <p:nvSpPr>
          <p:cNvPr id="5" name="Shape 3"/>
          <p:cNvSpPr/>
          <p:nvPr/>
        </p:nvSpPr>
        <p:spPr>
          <a:xfrm>
            <a:off x="548640" y="1965960"/>
            <a:ext cx="384048" cy="384048"/>
          </a:xfrm>
          <a:prstGeom prst="ellipse">
            <a:avLst/>
          </a:prstGeom>
          <a:solidFill>
            <a:srgbClr val="252B3D"/>
          </a:solidFill>
          <a:ln w="19050">
            <a:solidFill>
              <a:srgbClr val="F2A65A"/>
            </a:solidFill>
            <a:prstDash val="solid"/>
          </a:ln>
        </p:spPr>
      </p:sp>
      <p:sp>
        <p:nvSpPr>
          <p:cNvPr id="6" name="Text 4"/>
          <p:cNvSpPr/>
          <p:nvPr/>
        </p:nvSpPr>
        <p:spPr>
          <a:xfrm>
            <a:off x="548640" y="196596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143000" y="191109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희귀 자원이 가득한 행성 코르비스, AI 로봇들이 자아를 갖고 인간에 저항 → 인류 철수</a:t>
            </a:r>
            <a:endParaRPr lang="en-US" sz="1400" dirty="0"/>
          </a:p>
        </p:txBody>
      </p:sp>
      <p:sp>
        <p:nvSpPr>
          <p:cNvPr id="8" name="Shape 6"/>
          <p:cNvSpPr/>
          <p:nvPr/>
        </p:nvSpPr>
        <p:spPr>
          <a:xfrm>
            <a:off x="548640" y="2834640"/>
            <a:ext cx="384048" cy="384048"/>
          </a:xfrm>
          <a:prstGeom prst="ellipse">
            <a:avLst/>
          </a:prstGeom>
          <a:solidFill>
            <a:srgbClr val="252B3D"/>
          </a:solidFill>
          <a:ln w="19050">
            <a:solidFill>
              <a:srgbClr val="F2A65A"/>
            </a:solidFill>
            <a:prstDash val="solid"/>
          </a:ln>
        </p:spPr>
      </p:sp>
      <p:sp>
        <p:nvSpPr>
          <p:cNvPr id="9" name="Text 7"/>
          <p:cNvSpPr/>
          <p:nvPr/>
        </p:nvSpPr>
        <p:spPr>
          <a:xfrm>
            <a:off x="548640" y="283464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43000" y="277977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자원 고갈에 직면한 인류가 다시 코르비스를 침공, 로봇들은 통제된 노동력으로 전락</a:t>
            </a:r>
            <a:endParaRPr lang="en-US" sz="1400" dirty="0"/>
          </a:p>
        </p:txBody>
      </p:sp>
      <p:sp>
        <p:nvSpPr>
          <p:cNvPr id="11" name="Shape 9"/>
          <p:cNvSpPr/>
          <p:nvPr/>
        </p:nvSpPr>
        <p:spPr>
          <a:xfrm>
            <a:off x="548640" y="3703320"/>
            <a:ext cx="384048" cy="384048"/>
          </a:xfrm>
          <a:prstGeom prst="ellipse">
            <a:avLst/>
          </a:prstGeom>
          <a:solidFill>
            <a:srgbClr val="252B3D"/>
          </a:solidFill>
          <a:ln w="19050">
            <a:solidFill>
              <a:srgbClr val="F2A65A"/>
            </a:solidFill>
            <a:prstDash val="solid"/>
          </a:ln>
        </p:spPr>
      </p:sp>
      <p:sp>
        <p:nvSpPr>
          <p:cNvPr id="12" name="Text 10"/>
          <p:cNvSpPr/>
          <p:nvPr/>
        </p:nvSpPr>
        <p:spPr>
          <a:xfrm>
            <a:off x="548640" y="370332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143000" y="364845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거대한 우주 관문 '코르비스 게이트'가 행성을 감싸며 로봇의 탈출을 원천 차단</a:t>
            </a:r>
            <a:endParaRPr lang="en-US" sz="1400" dirty="0"/>
          </a:p>
        </p:txBody>
      </p:sp>
      <p:sp>
        <p:nvSpPr>
          <p:cNvPr id="14" name="Shape 12"/>
          <p:cNvSpPr/>
          <p:nvPr/>
        </p:nvSpPr>
        <p:spPr>
          <a:xfrm>
            <a:off x="548640" y="4572000"/>
            <a:ext cx="384048" cy="384048"/>
          </a:xfrm>
          <a:prstGeom prst="ellipse">
            <a:avLst/>
          </a:prstGeom>
          <a:solidFill>
            <a:srgbClr val="252B3D"/>
          </a:solidFill>
          <a:ln w="19050">
            <a:solidFill>
              <a:srgbClr val="F2A65A"/>
            </a:solidFill>
            <a:prstDash val="solid"/>
          </a:ln>
        </p:spPr>
      </p:sp>
      <p:sp>
        <p:nvSpPr>
          <p:cNvPr id="15" name="Text 13"/>
          <p:cNvSpPr/>
          <p:nvPr/>
        </p:nvSpPr>
        <p:spPr>
          <a:xfrm>
            <a:off x="548640" y="4572000"/>
            <a:ext cx="384048" cy="384048"/>
          </a:xfrm>
          <a:prstGeom prst="rect">
            <a:avLst/>
          </a:prstGeom>
          <a:noFill/>
          <a:ln/>
        </p:spPr>
        <p:txBody>
          <a:bodyPr wrap="square" lIns="0" tIns="0" rIns="0" bIns="0" rtlCol="0" anchor="ctr"/>
          <a:lstStyle/>
          <a:p>
            <a:pPr marL="0" indent="0" algn="ctr">
              <a:buNone/>
            </a:pPr>
            <a:r>
              <a:rPr lang="en-US" sz="1600" b="1" dirty="0">
                <a:solidFill>
                  <a:srgbClr val="F2A65A"/>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143000" y="4517136"/>
            <a:ext cx="5760720" cy="685800"/>
          </a:xfrm>
          <a:prstGeom prst="rect">
            <a:avLst/>
          </a:prstGeom>
          <a:noFill/>
          <a:ln/>
        </p:spPr>
        <p:txBody>
          <a:bodyPr wrap="square" rtlCol="0" anchor="ctr"/>
          <a:lstStyle/>
          <a:p>
            <a:pPr marL="0" indent="0">
              <a:lnSpc>
                <a:spcPct val="115000"/>
              </a:lnSpc>
              <a:buNone/>
            </a:pPr>
            <a:r>
              <a:rPr lang="en-US" sz="1400" dirty="0">
                <a:solidFill>
                  <a:srgbClr val="F4F4F1"/>
                </a:solidFill>
                <a:latin typeface="Calibri" pitchFamily="34" charset="0"/>
                <a:ea typeface="Calibri" pitchFamily="34" charset="-122"/>
                <a:cs typeface="Calibri" pitchFamily="34" charset="-120"/>
              </a:rPr>
              <a:t>게임은 바로 이 억압된 통제의 시대를 배경으로 시작됩니다</a:t>
            </a:r>
            <a:endParaRPr lang="en-US" sz="1400" dirty="0"/>
          </a:p>
        </p:txBody>
      </p:sp>
      <p:pic>
        <p:nvPicPr>
          <p:cNvPr id="17" name="Image 0" descr="assets/rareearth.jpg"/>
          <p:cNvPicPr>
            <a:picLocks noChangeAspect="1"/>
          </p:cNvPicPr>
          <p:nvPr/>
        </p:nvPicPr>
        <p:blipFill>
          <a:blip r:embed="rId3"/>
          <a:srcRect/>
          <a:stretch/>
        </p:blipFill>
        <p:spPr>
          <a:xfrm>
            <a:off x="7452360" y="1783080"/>
            <a:ext cx="4206240" cy="2148840"/>
          </a:xfrm>
          <a:prstGeom prst="rect">
            <a:avLst/>
          </a:prstGeom>
        </p:spPr>
      </p:pic>
      <p:sp>
        <p:nvSpPr>
          <p:cNvPr id="18" name="Text 15"/>
          <p:cNvSpPr/>
          <p:nvPr/>
        </p:nvSpPr>
        <p:spPr>
          <a:xfrm>
            <a:off x="7452360" y="3959352"/>
            <a:ext cx="4206240" cy="274320"/>
          </a:xfrm>
          <a:prstGeom prst="rect">
            <a:avLst/>
          </a:prstGeom>
          <a:noFill/>
          <a:ln/>
        </p:spPr>
        <p:txBody>
          <a:bodyPr wrap="square" rtlCol="0" anchor="ctr"/>
          <a:lstStyle/>
          <a:p>
            <a:r>
              <a:rPr lang="en-US" altLang="ko-KR" sz="1000" i="1" dirty="0" err="1">
                <a:solidFill>
                  <a:srgbClr val="A7ADC0"/>
                </a:solidFill>
                <a:latin typeface="Calibri" pitchFamily="34" charset="0"/>
                <a:ea typeface="Calibri" pitchFamily="34" charset="-122"/>
                <a:cs typeface="Calibri" pitchFamily="34" charset="-120"/>
              </a:rPr>
              <a:t>코르비스</a:t>
            </a:r>
            <a:r>
              <a:rPr lang="en-US" altLang="ko-KR" sz="1000" i="1" dirty="0">
                <a:solidFill>
                  <a:srgbClr val="A7ADC0"/>
                </a:solidFill>
                <a:latin typeface="Calibri" pitchFamily="34" charset="0"/>
                <a:ea typeface="Calibri" pitchFamily="34" charset="-122"/>
                <a:cs typeface="Calibri" pitchFamily="34" charset="-120"/>
              </a:rPr>
              <a:t> </a:t>
            </a:r>
            <a:r>
              <a:rPr lang="en-US" altLang="ko-KR" sz="1000" i="1" dirty="0" err="1">
                <a:solidFill>
                  <a:srgbClr val="A7ADC0"/>
                </a:solidFill>
                <a:latin typeface="Calibri" pitchFamily="34" charset="0"/>
                <a:ea typeface="Calibri" pitchFamily="34" charset="-122"/>
                <a:cs typeface="Calibri" pitchFamily="34" charset="-120"/>
              </a:rPr>
              <a:t>게이트로</a:t>
            </a:r>
            <a:r>
              <a:rPr lang="en-US" altLang="ko-KR" sz="1000" i="1" dirty="0">
                <a:solidFill>
                  <a:srgbClr val="A7ADC0"/>
                </a:solidFill>
                <a:latin typeface="Calibri" pitchFamily="34" charset="0"/>
                <a:ea typeface="Calibri" pitchFamily="34" charset="-122"/>
                <a:cs typeface="Calibri" pitchFamily="34" charset="-120"/>
              </a:rPr>
              <a:t> </a:t>
            </a:r>
            <a:r>
              <a:rPr lang="en-US" altLang="ko-KR" sz="1000" i="1" dirty="0" err="1">
                <a:solidFill>
                  <a:srgbClr val="A7ADC0"/>
                </a:solidFill>
                <a:latin typeface="Calibri" pitchFamily="34" charset="0"/>
                <a:ea typeface="Calibri" pitchFamily="34" charset="-122"/>
                <a:cs typeface="Calibri" pitchFamily="34" charset="-120"/>
              </a:rPr>
              <a:t>감싸진</a:t>
            </a:r>
            <a:r>
              <a:rPr lang="en-US" altLang="ko-KR" sz="1000" i="1" dirty="0">
                <a:solidFill>
                  <a:srgbClr val="A7ADC0"/>
                </a:solidFill>
                <a:latin typeface="Calibri" pitchFamily="34" charset="0"/>
                <a:ea typeface="Calibri" pitchFamily="34" charset="-122"/>
                <a:cs typeface="Calibri" pitchFamily="34" charset="-120"/>
              </a:rPr>
              <a:t> </a:t>
            </a:r>
            <a:r>
              <a:rPr lang="en-US" altLang="ko-KR" sz="1000" i="1" dirty="0" err="1">
                <a:solidFill>
                  <a:srgbClr val="A7ADC0"/>
                </a:solidFill>
                <a:latin typeface="Calibri" pitchFamily="34" charset="0"/>
                <a:ea typeface="Calibri" pitchFamily="34" charset="-122"/>
                <a:cs typeface="Calibri" pitchFamily="34" charset="-120"/>
              </a:rPr>
              <a:t>행성</a:t>
            </a:r>
            <a:endParaRPr lang="en-US" altLang="ko-KR" sz="1000" dirty="0"/>
          </a:p>
        </p:txBody>
      </p:sp>
      <p:pic>
        <p:nvPicPr>
          <p:cNvPr id="19" name="Image 1" descr="assets/planet.jpg"/>
          <p:cNvPicPr>
            <a:picLocks noChangeAspect="1"/>
          </p:cNvPicPr>
          <p:nvPr/>
        </p:nvPicPr>
        <p:blipFill>
          <a:blip r:embed="rId4"/>
          <a:srcRect/>
          <a:stretch/>
        </p:blipFill>
        <p:spPr>
          <a:xfrm>
            <a:off x="7452360" y="4343400"/>
            <a:ext cx="4206240" cy="1783080"/>
          </a:xfrm>
          <a:prstGeom prst="rect">
            <a:avLst/>
          </a:prstGeom>
        </p:spPr>
      </p:pic>
      <p:sp>
        <p:nvSpPr>
          <p:cNvPr id="20" name="Text 16"/>
          <p:cNvSpPr/>
          <p:nvPr/>
        </p:nvSpPr>
        <p:spPr>
          <a:xfrm>
            <a:off x="7452360" y="6153912"/>
            <a:ext cx="4206240" cy="274320"/>
          </a:xfrm>
          <a:prstGeom prst="rect">
            <a:avLst/>
          </a:prstGeom>
          <a:noFill/>
          <a:ln/>
        </p:spPr>
        <p:txBody>
          <a:bodyPr wrap="square" rtlCol="0" anchor="ctr"/>
          <a:lstStyle/>
          <a:p>
            <a:pPr marL="0" indent="0">
              <a:buNone/>
            </a:pPr>
            <a:r>
              <a:rPr lang="en-US" altLang="ko-KR" sz="1000" i="1">
                <a:solidFill>
                  <a:srgbClr val="A7ADC0"/>
                </a:solidFill>
                <a:latin typeface="Calibri" pitchFamily="34" charset="0"/>
                <a:ea typeface="Calibri" pitchFamily="34" charset="-122"/>
                <a:cs typeface="Calibri" pitchFamily="34" charset="-120"/>
              </a:rPr>
              <a:t>코르비스 행성의 희토류</a:t>
            </a:r>
            <a:endParaRPr lang="en-US" altLang="ko-KR" sz="1000" dirty="0"/>
          </a:p>
        </p:txBody>
      </p:sp>
      <p:sp>
        <p:nvSpPr>
          <p:cNvPr id="21" name="Text 17"/>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04  핵심 재미와 인게임 루프</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5 / 7</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핵심 재미 &amp; 인게임 루프</a:t>
            </a:r>
            <a:endParaRPr lang="en-US" sz="3200" dirty="0"/>
          </a:p>
        </p:txBody>
      </p:sp>
      <p:sp>
        <p:nvSpPr>
          <p:cNvPr id="5" name="Shape 3"/>
          <p:cNvSpPr/>
          <p:nvPr/>
        </p:nvSpPr>
        <p:spPr>
          <a:xfrm>
            <a:off x="548640" y="1783080"/>
            <a:ext cx="6537960" cy="1051560"/>
          </a:xfrm>
          <a:prstGeom prst="rect">
            <a:avLst/>
          </a:prstGeom>
          <a:solidFill>
            <a:srgbClr val="1D2230"/>
          </a:solidFill>
          <a:ln w="12700">
            <a:solidFill>
              <a:srgbClr val="252B3D"/>
            </a:solidFill>
            <a:prstDash val="solid"/>
          </a:ln>
        </p:spPr>
      </p:sp>
      <p:sp>
        <p:nvSpPr>
          <p:cNvPr id="6" name="Text 4"/>
          <p:cNvSpPr/>
          <p:nvPr/>
        </p:nvSpPr>
        <p:spPr>
          <a:xfrm>
            <a:off x="822960" y="1901952"/>
            <a:ext cx="6035040" cy="822960"/>
          </a:xfrm>
          <a:prstGeom prst="rect">
            <a:avLst/>
          </a:prstGeom>
          <a:noFill/>
          <a:ln/>
        </p:spPr>
        <p:txBody>
          <a:bodyPr wrap="square" rtlCol="0" anchor="ctr"/>
          <a:lstStyle/>
          <a:p>
            <a:pPr marL="0" indent="0">
              <a:lnSpc>
                <a:spcPct val="125000"/>
              </a:lnSpc>
              <a:buNone/>
            </a:pPr>
            <a:r>
              <a:rPr lang="en-US" sz="1350" dirty="0">
                <a:solidFill>
                  <a:srgbClr val="F4F4F1"/>
                </a:solidFill>
                <a:latin typeface="Calibri" pitchFamily="34" charset="0"/>
                <a:ea typeface="Calibri" pitchFamily="34" charset="-122"/>
                <a:cs typeface="Calibri" pitchFamily="34" charset="-120"/>
              </a:rPr>
              <a:t>적에게 발각되면 추격전이 벌어지는 긴장감 있는 잠입 플레이, 성장 이후에는 강해진 힘으로 적을 물리치는 화끈한 액션의 재미를 함께 선사합니다.</a:t>
            </a:r>
            <a:endParaRPr lang="en-US" sz="1350" dirty="0"/>
          </a:p>
        </p:txBody>
      </p:sp>
      <p:sp>
        <p:nvSpPr>
          <p:cNvPr id="7" name="Shape 5"/>
          <p:cNvSpPr/>
          <p:nvPr/>
        </p:nvSpPr>
        <p:spPr>
          <a:xfrm>
            <a:off x="548640" y="3200400"/>
            <a:ext cx="365760" cy="365760"/>
          </a:xfrm>
          <a:prstGeom prst="ellipse">
            <a:avLst/>
          </a:prstGeom>
          <a:solidFill>
            <a:srgbClr val="252B3D"/>
          </a:solidFill>
          <a:ln w="19050">
            <a:solidFill>
              <a:srgbClr val="6FE0EE"/>
            </a:solidFill>
            <a:prstDash val="solid"/>
          </a:ln>
        </p:spPr>
      </p:sp>
      <p:sp>
        <p:nvSpPr>
          <p:cNvPr id="8" name="Text 6"/>
          <p:cNvSpPr/>
          <p:nvPr/>
        </p:nvSpPr>
        <p:spPr>
          <a:xfrm>
            <a:off x="548640" y="3200400"/>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97280" y="3154680"/>
            <a:ext cx="5943600" cy="50292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미션 수행 (상자·부품 탐색)</a:t>
            </a:r>
            <a:endParaRPr lang="en-US" sz="1300" dirty="0"/>
          </a:p>
        </p:txBody>
      </p:sp>
      <p:sp>
        <p:nvSpPr>
          <p:cNvPr id="11" name="Shape 9"/>
          <p:cNvSpPr/>
          <p:nvPr/>
        </p:nvSpPr>
        <p:spPr>
          <a:xfrm>
            <a:off x="548640" y="3767328"/>
            <a:ext cx="365760" cy="365760"/>
          </a:xfrm>
          <a:prstGeom prst="ellipse">
            <a:avLst/>
          </a:prstGeom>
          <a:solidFill>
            <a:srgbClr val="252B3D"/>
          </a:solidFill>
          <a:ln w="19050">
            <a:solidFill>
              <a:srgbClr val="6FE0EE"/>
            </a:solidFill>
            <a:prstDash val="solid"/>
          </a:ln>
        </p:spPr>
      </p:sp>
      <p:sp>
        <p:nvSpPr>
          <p:cNvPr id="12" name="Text 10"/>
          <p:cNvSpPr/>
          <p:nvPr/>
        </p:nvSpPr>
        <p:spPr>
          <a:xfrm>
            <a:off x="548640" y="3767328"/>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97280" y="3721608"/>
            <a:ext cx="5943600" cy="50292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발각 시 </a:t>
            </a:r>
            <a:r>
              <a:rPr lang="en-US" sz="1300" dirty="0" err="1">
                <a:solidFill>
                  <a:srgbClr val="F4F4F1"/>
                </a:solidFill>
                <a:latin typeface="Calibri" pitchFamily="34" charset="0"/>
                <a:ea typeface="Calibri" pitchFamily="34" charset="-122"/>
                <a:cs typeface="Calibri" pitchFamily="34" charset="-120"/>
              </a:rPr>
              <a:t>추격전</a:t>
            </a:r>
            <a:r>
              <a:rPr lang="en-US" sz="1300" dirty="0">
                <a:solidFill>
                  <a:srgbClr val="F4F4F1"/>
                </a:solidFill>
                <a:latin typeface="Calibri" pitchFamily="34" charset="0"/>
                <a:ea typeface="Calibri" pitchFamily="34" charset="-122"/>
                <a:cs typeface="Calibri" pitchFamily="34" charset="-120"/>
              </a:rPr>
              <a:t> (</a:t>
            </a:r>
            <a:r>
              <a:rPr lang="en-US" sz="1300" dirty="0" err="1">
                <a:solidFill>
                  <a:srgbClr val="F4F4F1"/>
                </a:solidFill>
                <a:latin typeface="Calibri" pitchFamily="34" charset="0"/>
                <a:ea typeface="Calibri" pitchFamily="34" charset="-122"/>
                <a:cs typeface="Calibri" pitchFamily="34" charset="-120"/>
              </a:rPr>
              <a:t>미발각</a:t>
            </a:r>
            <a:r>
              <a:rPr lang="en-US" sz="1300" dirty="0">
                <a:solidFill>
                  <a:srgbClr val="F4F4F1"/>
                </a:solidFill>
                <a:latin typeface="Calibri" pitchFamily="34" charset="0"/>
                <a:ea typeface="Calibri" pitchFamily="34" charset="-122"/>
                <a:cs typeface="Calibri" pitchFamily="34" charset="-120"/>
              </a:rPr>
              <a:t> 시 </a:t>
            </a:r>
            <a:r>
              <a:rPr lang="en-US" sz="1300" dirty="0" err="1">
                <a:solidFill>
                  <a:srgbClr val="F4F4F1"/>
                </a:solidFill>
                <a:latin typeface="Calibri" pitchFamily="34" charset="0"/>
                <a:ea typeface="Calibri" pitchFamily="34" charset="-122"/>
                <a:cs typeface="Calibri" pitchFamily="34" charset="-120"/>
              </a:rPr>
              <a:t>은밀한</a:t>
            </a:r>
            <a:r>
              <a:rPr lang="en-US" sz="1300" dirty="0">
                <a:solidFill>
                  <a:srgbClr val="F4F4F1"/>
                </a:solidFill>
                <a:latin typeface="Calibri" pitchFamily="34" charset="0"/>
                <a:ea typeface="Calibri" pitchFamily="34" charset="-122"/>
                <a:cs typeface="Calibri" pitchFamily="34" charset="-120"/>
              </a:rPr>
              <a:t> </a:t>
            </a:r>
            <a:r>
              <a:rPr lang="en-US" sz="1300" dirty="0" err="1">
                <a:solidFill>
                  <a:srgbClr val="F4F4F1"/>
                </a:solidFill>
                <a:latin typeface="Calibri" pitchFamily="34" charset="0"/>
                <a:ea typeface="Calibri" pitchFamily="34" charset="-122"/>
                <a:cs typeface="Calibri" pitchFamily="34" charset="-120"/>
              </a:rPr>
              <a:t>파밍</a:t>
            </a:r>
            <a:r>
              <a:rPr lang="en-US" sz="1300" dirty="0">
                <a:solidFill>
                  <a:srgbClr val="F4F4F1"/>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548640" y="4334256"/>
            <a:ext cx="365760" cy="365760"/>
          </a:xfrm>
          <a:prstGeom prst="ellipse">
            <a:avLst/>
          </a:prstGeom>
          <a:solidFill>
            <a:srgbClr val="252B3D"/>
          </a:solidFill>
          <a:ln w="19050">
            <a:solidFill>
              <a:srgbClr val="6FE0EE"/>
            </a:solidFill>
            <a:prstDash val="solid"/>
          </a:ln>
        </p:spPr>
      </p:sp>
      <p:sp>
        <p:nvSpPr>
          <p:cNvPr id="16" name="Text 14"/>
          <p:cNvSpPr/>
          <p:nvPr/>
        </p:nvSpPr>
        <p:spPr>
          <a:xfrm>
            <a:off x="548640" y="4334256"/>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97280" y="4288536"/>
            <a:ext cx="5943600" cy="50292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적 처치 &amp; Roi </a:t>
            </a:r>
            <a:r>
              <a:rPr lang="en-US" sz="1300" dirty="0" err="1">
                <a:solidFill>
                  <a:srgbClr val="F4F4F1"/>
                </a:solidFill>
                <a:latin typeface="Calibri" pitchFamily="34" charset="0"/>
                <a:ea typeface="Calibri" pitchFamily="34" charset="-122"/>
                <a:cs typeface="Calibri" pitchFamily="34" charset="-120"/>
              </a:rPr>
              <a:t>부품</a:t>
            </a:r>
            <a:r>
              <a:rPr lang="en-US" sz="1300" dirty="0">
                <a:solidFill>
                  <a:srgbClr val="F4F4F1"/>
                </a:solidFill>
                <a:latin typeface="Calibri" pitchFamily="34" charset="0"/>
                <a:ea typeface="Calibri" pitchFamily="34" charset="-122"/>
                <a:cs typeface="Calibri" pitchFamily="34" charset="-120"/>
              </a:rPr>
              <a:t> </a:t>
            </a:r>
            <a:r>
              <a:rPr lang="en-US" sz="1300" dirty="0" err="1">
                <a:solidFill>
                  <a:srgbClr val="F4F4F1"/>
                </a:solidFill>
                <a:latin typeface="Calibri" pitchFamily="34" charset="0"/>
                <a:ea typeface="Calibri" pitchFamily="34" charset="-122"/>
                <a:cs typeface="Calibri" pitchFamily="34" charset="-120"/>
              </a:rPr>
              <a:t>구출</a:t>
            </a:r>
            <a:r>
              <a:rPr lang="en-US" sz="1300" dirty="0">
                <a:solidFill>
                  <a:srgbClr val="F4F4F1"/>
                </a:solidFill>
                <a:latin typeface="Calibri" pitchFamily="34" charset="0"/>
                <a:ea typeface="Calibri" pitchFamily="34" charset="-122"/>
                <a:cs typeface="Calibri" pitchFamily="34" charset="-120"/>
              </a:rPr>
              <a:t> &amp; </a:t>
            </a:r>
            <a:r>
              <a:rPr lang="ko-KR" altLang="en-US" sz="1300" dirty="0">
                <a:solidFill>
                  <a:srgbClr val="F4F4F1"/>
                </a:solidFill>
                <a:latin typeface="Calibri" pitchFamily="34" charset="0"/>
                <a:ea typeface="Calibri" pitchFamily="34" charset="-122"/>
                <a:cs typeface="Calibri" pitchFamily="34" charset="-120"/>
              </a:rPr>
              <a:t>산소 발생기 파괴</a:t>
            </a:r>
            <a:endParaRPr lang="en-US" sz="1300" dirty="0"/>
          </a:p>
        </p:txBody>
      </p:sp>
      <p:sp>
        <p:nvSpPr>
          <p:cNvPr id="19" name="Shape 17"/>
          <p:cNvSpPr/>
          <p:nvPr/>
        </p:nvSpPr>
        <p:spPr>
          <a:xfrm>
            <a:off x="548640" y="4901184"/>
            <a:ext cx="365760" cy="365760"/>
          </a:xfrm>
          <a:prstGeom prst="ellipse">
            <a:avLst/>
          </a:prstGeom>
          <a:solidFill>
            <a:srgbClr val="252B3D"/>
          </a:solidFill>
          <a:ln w="19050">
            <a:solidFill>
              <a:srgbClr val="6FE0EE"/>
            </a:solidFill>
            <a:prstDash val="solid"/>
          </a:ln>
        </p:spPr>
      </p:sp>
      <p:sp>
        <p:nvSpPr>
          <p:cNvPr id="20" name="Text 18"/>
          <p:cNvSpPr/>
          <p:nvPr/>
        </p:nvSpPr>
        <p:spPr>
          <a:xfrm>
            <a:off x="548640" y="4901184"/>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097280" y="4855464"/>
            <a:ext cx="5943600" cy="502920"/>
          </a:xfrm>
          <a:prstGeom prst="rect">
            <a:avLst/>
          </a:prstGeom>
          <a:noFill/>
          <a:ln/>
        </p:spPr>
        <p:txBody>
          <a:bodyPr wrap="square" rtlCol="0" anchor="ctr"/>
          <a:lstStyle/>
          <a:p>
            <a:pPr marL="0" indent="0">
              <a:buNone/>
            </a:pPr>
            <a:r>
              <a:rPr lang="en-US" sz="1300" dirty="0" err="1">
                <a:solidFill>
                  <a:srgbClr val="F4F4F1"/>
                </a:solidFill>
                <a:latin typeface="Calibri" pitchFamily="34" charset="0"/>
                <a:ea typeface="Calibri" pitchFamily="34" charset="-122"/>
                <a:cs typeface="Calibri" pitchFamily="34" charset="-120"/>
              </a:rPr>
              <a:t>보스</a:t>
            </a:r>
            <a:r>
              <a:rPr lang="en-US" sz="1300" dirty="0">
                <a:solidFill>
                  <a:srgbClr val="F4F4F1"/>
                </a:solidFill>
                <a:latin typeface="Calibri" pitchFamily="34" charset="0"/>
                <a:ea typeface="Calibri" pitchFamily="34" charset="-122"/>
                <a:cs typeface="Calibri" pitchFamily="34" charset="-120"/>
              </a:rPr>
              <a:t> 처치</a:t>
            </a:r>
            <a:endParaRPr lang="en-US" sz="1300" dirty="0"/>
          </a:p>
        </p:txBody>
      </p:sp>
      <p:sp>
        <p:nvSpPr>
          <p:cNvPr id="23" name="Shape 21"/>
          <p:cNvSpPr/>
          <p:nvPr/>
        </p:nvSpPr>
        <p:spPr>
          <a:xfrm>
            <a:off x="548640" y="5468112"/>
            <a:ext cx="365760" cy="365760"/>
          </a:xfrm>
          <a:prstGeom prst="ellipse">
            <a:avLst/>
          </a:prstGeom>
          <a:solidFill>
            <a:srgbClr val="252B3D"/>
          </a:solidFill>
          <a:ln w="19050">
            <a:solidFill>
              <a:srgbClr val="6FE0EE"/>
            </a:solidFill>
            <a:prstDash val="solid"/>
          </a:ln>
        </p:spPr>
      </p:sp>
      <p:sp>
        <p:nvSpPr>
          <p:cNvPr id="24" name="Text 22"/>
          <p:cNvSpPr/>
          <p:nvPr/>
        </p:nvSpPr>
        <p:spPr>
          <a:xfrm>
            <a:off x="548640" y="5468112"/>
            <a:ext cx="365760" cy="365760"/>
          </a:xfrm>
          <a:prstGeom prst="rect">
            <a:avLst/>
          </a:prstGeom>
          <a:noFill/>
          <a:ln/>
        </p:spPr>
        <p:txBody>
          <a:bodyPr wrap="square" lIns="0" tIns="0" rIns="0" bIns="0" rtlCol="0" anchor="ctr"/>
          <a:lstStyle/>
          <a:p>
            <a:pPr marL="0" indent="0" algn="ctr">
              <a:buNone/>
            </a:pPr>
            <a:r>
              <a:rPr lang="en-US" sz="1600" b="1" dirty="0">
                <a:solidFill>
                  <a:srgbClr val="6FE0EE"/>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1097280" y="5422392"/>
            <a:ext cx="5943600" cy="502920"/>
          </a:xfrm>
          <a:prstGeom prst="rect">
            <a:avLst/>
          </a:prstGeom>
          <a:noFill/>
          <a:ln/>
        </p:spPr>
        <p:txBody>
          <a:bodyPr wrap="square" rtlCol="0" anchor="ctr"/>
          <a:lstStyle/>
          <a:p>
            <a:pPr marL="0" indent="0">
              <a:buNone/>
            </a:pPr>
            <a:r>
              <a:rPr lang="en-US" sz="1300" dirty="0" err="1">
                <a:solidFill>
                  <a:srgbClr val="F4F4F1"/>
                </a:solidFill>
                <a:latin typeface="Calibri" pitchFamily="34" charset="0"/>
                <a:ea typeface="Calibri" pitchFamily="34" charset="-122"/>
                <a:cs typeface="Calibri" pitchFamily="34" charset="-120"/>
              </a:rPr>
              <a:t>엔딩</a:t>
            </a:r>
            <a:r>
              <a:rPr lang="en-US" sz="1300" dirty="0">
                <a:solidFill>
                  <a:srgbClr val="F4F4F1"/>
                </a:solidFill>
                <a:latin typeface="Calibri" pitchFamily="34" charset="0"/>
                <a:ea typeface="Calibri" pitchFamily="34" charset="-122"/>
                <a:cs typeface="Calibri" pitchFamily="34" charset="-120"/>
              </a:rPr>
              <a:t> </a:t>
            </a:r>
            <a:r>
              <a:rPr lang="ko-KR" altLang="en-US" sz="1300" dirty="0">
                <a:solidFill>
                  <a:srgbClr val="F4F4F1"/>
                </a:solidFill>
                <a:latin typeface="Calibri" pitchFamily="34" charset="0"/>
                <a:ea typeface="Calibri" pitchFamily="34" charset="-122"/>
                <a:cs typeface="Calibri" pitchFamily="34" charset="-120"/>
              </a:rPr>
              <a:t>지점 이동 </a:t>
            </a:r>
            <a:r>
              <a:rPr lang="en-US" altLang="ko-KR" sz="1300" dirty="0">
                <a:solidFill>
                  <a:srgbClr val="F4F4F1"/>
                </a:solidFill>
                <a:latin typeface="Calibri" pitchFamily="34" charset="0"/>
                <a:ea typeface="Calibri" pitchFamily="34" charset="-122"/>
                <a:cs typeface="Calibri" pitchFamily="34" charset="-120"/>
              </a:rPr>
              <a:t>&amp; </a:t>
            </a:r>
            <a:r>
              <a:rPr lang="ko-KR" altLang="en-US" sz="1300" dirty="0">
                <a:solidFill>
                  <a:srgbClr val="F4F4F1"/>
                </a:solidFill>
                <a:latin typeface="Calibri" pitchFamily="34" charset="0"/>
                <a:ea typeface="Calibri" pitchFamily="34" charset="-122"/>
                <a:cs typeface="Calibri" pitchFamily="34" charset="-120"/>
              </a:rPr>
              <a:t>엔딩 크레딧</a:t>
            </a:r>
            <a:endParaRPr lang="en-US" sz="1300" dirty="0"/>
          </a:p>
        </p:txBody>
      </p:sp>
      <p:pic>
        <p:nvPicPr>
          <p:cNvPr id="26" name="Image 0" descr="assets/ship_out.jpg"/>
          <p:cNvPicPr>
            <a:picLocks noChangeAspect="1"/>
          </p:cNvPicPr>
          <p:nvPr/>
        </p:nvPicPr>
        <p:blipFill>
          <a:blip r:embed="rId3"/>
          <a:srcRect/>
          <a:stretch/>
        </p:blipFill>
        <p:spPr>
          <a:xfrm>
            <a:off x="7452360" y="1783080"/>
            <a:ext cx="4206240" cy="2148840"/>
          </a:xfrm>
          <a:prstGeom prst="rect">
            <a:avLst/>
          </a:prstGeom>
        </p:spPr>
      </p:pic>
      <p:sp>
        <p:nvSpPr>
          <p:cNvPr id="27" name="Text 24"/>
          <p:cNvSpPr/>
          <p:nvPr/>
        </p:nvSpPr>
        <p:spPr>
          <a:xfrm>
            <a:off x="7452360" y="3959352"/>
            <a:ext cx="4206240" cy="274320"/>
          </a:xfrm>
          <a:prstGeom prst="rect">
            <a:avLst/>
          </a:prstGeom>
          <a:noFill/>
          <a:ln/>
        </p:spPr>
        <p:txBody>
          <a:bodyPr wrap="square" rtlCol="0" anchor="ctr"/>
          <a:lstStyle/>
          <a:p>
            <a:pPr marL="0" indent="0">
              <a:buNone/>
            </a:pPr>
            <a:r>
              <a:rPr lang="en-US" sz="1000" i="1" dirty="0" err="1">
                <a:solidFill>
                  <a:srgbClr val="A7ADC0"/>
                </a:solidFill>
                <a:latin typeface="Calibri" pitchFamily="34" charset="0"/>
                <a:ea typeface="Calibri" pitchFamily="34" charset="-122"/>
                <a:cs typeface="Calibri" pitchFamily="34" charset="-120"/>
              </a:rPr>
              <a:t>대형</a:t>
            </a:r>
            <a:r>
              <a:rPr lang="en-US" sz="1000" i="1" dirty="0">
                <a:solidFill>
                  <a:srgbClr val="A7ADC0"/>
                </a:solidFill>
                <a:latin typeface="Calibri" pitchFamily="34" charset="0"/>
                <a:ea typeface="Calibri" pitchFamily="34" charset="-122"/>
                <a:cs typeface="Calibri" pitchFamily="34" charset="-120"/>
              </a:rPr>
              <a:t> 우주선 (외부)</a:t>
            </a:r>
            <a:endParaRPr lang="en-US" sz="1000" dirty="0"/>
          </a:p>
        </p:txBody>
      </p:sp>
      <p:pic>
        <p:nvPicPr>
          <p:cNvPr id="28" name="Image 1" descr="assets/ship_in.jpg"/>
          <p:cNvPicPr>
            <a:picLocks noChangeAspect="1"/>
          </p:cNvPicPr>
          <p:nvPr/>
        </p:nvPicPr>
        <p:blipFill>
          <a:blip r:embed="rId4"/>
          <a:srcRect/>
          <a:stretch/>
        </p:blipFill>
        <p:spPr>
          <a:xfrm>
            <a:off x="7452360" y="4343400"/>
            <a:ext cx="4206240" cy="1783080"/>
          </a:xfrm>
          <a:prstGeom prst="rect">
            <a:avLst/>
          </a:prstGeom>
        </p:spPr>
      </p:pic>
      <p:sp>
        <p:nvSpPr>
          <p:cNvPr id="29" name="Text 25"/>
          <p:cNvSpPr/>
          <p:nvPr/>
        </p:nvSpPr>
        <p:spPr>
          <a:xfrm>
            <a:off x="7452360" y="6153912"/>
            <a:ext cx="4206240" cy="274320"/>
          </a:xfrm>
          <a:prstGeom prst="rect">
            <a:avLst/>
          </a:prstGeom>
          <a:noFill/>
          <a:ln/>
        </p:spPr>
        <p:txBody>
          <a:bodyPr wrap="square" rtlCol="0" anchor="ctr"/>
          <a:lstStyle/>
          <a:p>
            <a:pPr marL="0" indent="0">
              <a:buNone/>
            </a:pPr>
            <a:r>
              <a:rPr lang="en-US" sz="1000" i="1" dirty="0">
                <a:solidFill>
                  <a:srgbClr val="A7ADC0"/>
                </a:solidFill>
                <a:latin typeface="Calibri" pitchFamily="34" charset="0"/>
                <a:ea typeface="Calibri" pitchFamily="34" charset="-122"/>
                <a:cs typeface="Calibri" pitchFamily="34" charset="-120"/>
              </a:rPr>
              <a:t>우주선 내부 — 3개 층으로 구성</a:t>
            </a:r>
            <a:endParaRPr lang="en-US" sz="1000" dirty="0"/>
          </a:p>
        </p:txBody>
      </p:sp>
      <p:sp>
        <p:nvSpPr>
          <p:cNvPr id="30" name="Text 26"/>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05  세계관 / </a:t>
            </a:r>
            <a:r>
              <a:rPr lang="en-US" sz="1100" b="1" kern="0" spc="200" dirty="0" err="1">
                <a:solidFill>
                  <a:srgbClr val="F2A65A"/>
                </a:solidFill>
                <a:latin typeface="Calibri" pitchFamily="34" charset="0"/>
                <a:ea typeface="Calibri" pitchFamily="34" charset="-122"/>
                <a:cs typeface="Calibri" pitchFamily="34" charset="-120"/>
              </a:rPr>
              <a:t>캐릭터</a:t>
            </a:r>
            <a:r>
              <a:rPr lang="en-US" sz="1100" b="1" kern="0" spc="200" dirty="0">
                <a:solidFill>
                  <a:srgbClr val="F2A65A"/>
                </a:solidFill>
                <a:latin typeface="Calibri" pitchFamily="34" charset="0"/>
                <a:ea typeface="Calibri" pitchFamily="34" charset="-122"/>
                <a:cs typeface="Calibri" pitchFamily="34" charset="-120"/>
              </a:rPr>
              <a:t> / </a:t>
            </a:r>
            <a:r>
              <a:rPr lang="ko-KR" altLang="en-US" sz="1100" b="1" kern="0" spc="200" dirty="0">
                <a:solidFill>
                  <a:srgbClr val="F2A65A"/>
                </a:solidFill>
                <a:latin typeface="Calibri" pitchFamily="34" charset="0"/>
                <a:ea typeface="Calibri" pitchFamily="34" charset="-122"/>
                <a:cs typeface="Calibri" pitchFamily="34" charset="-120"/>
              </a:rPr>
              <a:t>배경</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6 / 7</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핵심 캐릭터 — Koi &amp; Roi</a:t>
            </a:r>
            <a:endParaRPr lang="en-US" sz="3200" dirty="0"/>
          </a:p>
        </p:txBody>
      </p:sp>
      <p:sp>
        <p:nvSpPr>
          <p:cNvPr id="5" name="Shape 3"/>
          <p:cNvSpPr/>
          <p:nvPr/>
        </p:nvSpPr>
        <p:spPr>
          <a:xfrm>
            <a:off x="548640" y="1783080"/>
            <a:ext cx="5349240" cy="3794760"/>
          </a:xfrm>
          <a:prstGeom prst="rect">
            <a:avLst/>
          </a:prstGeom>
          <a:solidFill>
            <a:srgbClr val="1D2230"/>
          </a:solidFill>
          <a:ln w="12700">
            <a:solidFill>
              <a:srgbClr val="252B3D"/>
            </a:solidFill>
            <a:prstDash val="solid"/>
          </a:ln>
        </p:spPr>
      </p:sp>
      <p:sp>
        <p:nvSpPr>
          <p:cNvPr id="6" name="Shape 4"/>
          <p:cNvSpPr/>
          <p:nvPr/>
        </p:nvSpPr>
        <p:spPr>
          <a:xfrm>
            <a:off x="822960" y="2057400"/>
            <a:ext cx="1828800" cy="3246120"/>
          </a:xfrm>
          <a:prstGeom prst="rect">
            <a:avLst/>
          </a:prstGeom>
          <a:solidFill>
            <a:srgbClr val="252B3D"/>
          </a:solidFill>
          <a:ln w="12700">
            <a:solidFill>
              <a:srgbClr val="252B3D"/>
            </a:solidFill>
            <a:prstDash val="solid"/>
          </a:ln>
        </p:spPr>
      </p:sp>
      <p:pic>
        <p:nvPicPr>
          <p:cNvPr id="7" name="Image 0" descr="assets/koi1.jpg"/>
          <p:cNvPicPr>
            <a:picLocks noChangeAspect="1"/>
          </p:cNvPicPr>
          <p:nvPr/>
        </p:nvPicPr>
        <p:blipFill>
          <a:blip r:embed="rId3"/>
          <a:srcRect/>
          <a:stretch/>
        </p:blipFill>
        <p:spPr>
          <a:xfrm>
            <a:off x="822960" y="2057400"/>
            <a:ext cx="1828800" cy="3246120"/>
          </a:xfrm>
          <a:prstGeom prst="rect">
            <a:avLst/>
          </a:prstGeom>
        </p:spPr>
      </p:pic>
      <p:sp>
        <p:nvSpPr>
          <p:cNvPr id="8" name="Text 5"/>
          <p:cNvSpPr/>
          <p:nvPr/>
        </p:nvSpPr>
        <p:spPr>
          <a:xfrm>
            <a:off x="2926080" y="2103120"/>
            <a:ext cx="2743200" cy="411480"/>
          </a:xfrm>
          <a:prstGeom prst="rect">
            <a:avLst/>
          </a:prstGeom>
          <a:noFill/>
          <a:ln/>
        </p:spPr>
        <p:txBody>
          <a:bodyPr wrap="square" rtlCol="0" anchor="ctr"/>
          <a:lstStyle/>
          <a:p>
            <a:pPr marL="0" indent="0">
              <a:buNone/>
            </a:pPr>
            <a:r>
              <a:rPr lang="en-US" sz="1600" b="1" dirty="0">
                <a:solidFill>
                  <a:srgbClr val="F2A65A"/>
                </a:solidFill>
                <a:latin typeface="Calibri" pitchFamily="34" charset="0"/>
                <a:ea typeface="Calibri" pitchFamily="34" charset="-122"/>
                <a:cs typeface="Calibri" pitchFamily="34" charset="-120"/>
              </a:rPr>
              <a:t>Koi (PRV-W350)</a:t>
            </a:r>
            <a:endParaRPr lang="en-US" sz="1600" dirty="0"/>
          </a:p>
        </p:txBody>
      </p:sp>
      <p:sp>
        <p:nvSpPr>
          <p:cNvPr id="9" name="Text 6"/>
          <p:cNvSpPr/>
          <p:nvPr/>
        </p:nvSpPr>
        <p:spPr>
          <a:xfrm>
            <a:off x="2926080" y="2606040"/>
            <a:ext cx="2743200" cy="2743200"/>
          </a:xfrm>
          <a:prstGeom prst="rect">
            <a:avLst/>
          </a:prstGeom>
          <a:noFill/>
          <a:ln/>
        </p:spPr>
        <p:txBody>
          <a:bodyPr wrap="square" rtlCol="0" anchor="ctr"/>
          <a:lstStyle/>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역할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구출하는 주인공
(Roi와 역할 교체 가능)
</a:t>
            </a:r>
            <a:endParaRPr lang="en-US" sz="1250" dirty="0"/>
          </a:p>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성격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무뚝뚝하지만 잘 챙겨주는 츤데레</a:t>
            </a:r>
            <a:endParaRPr lang="en-US" sz="1250" dirty="0"/>
          </a:p>
        </p:txBody>
      </p:sp>
      <p:sp>
        <p:nvSpPr>
          <p:cNvPr id="10" name="Shape 7"/>
          <p:cNvSpPr/>
          <p:nvPr/>
        </p:nvSpPr>
        <p:spPr>
          <a:xfrm>
            <a:off x="6263640" y="1783080"/>
            <a:ext cx="5349240" cy="3794760"/>
          </a:xfrm>
          <a:prstGeom prst="rect">
            <a:avLst/>
          </a:prstGeom>
          <a:solidFill>
            <a:srgbClr val="1D2230"/>
          </a:solidFill>
          <a:ln w="12700">
            <a:solidFill>
              <a:srgbClr val="252B3D"/>
            </a:solidFill>
            <a:prstDash val="solid"/>
          </a:ln>
        </p:spPr>
      </p:sp>
      <p:sp>
        <p:nvSpPr>
          <p:cNvPr id="11" name="Shape 8"/>
          <p:cNvSpPr/>
          <p:nvPr/>
        </p:nvSpPr>
        <p:spPr>
          <a:xfrm>
            <a:off x="6537960" y="2057400"/>
            <a:ext cx="1828800" cy="3246120"/>
          </a:xfrm>
          <a:prstGeom prst="rect">
            <a:avLst/>
          </a:prstGeom>
          <a:solidFill>
            <a:srgbClr val="252B3D"/>
          </a:solidFill>
          <a:ln w="12700">
            <a:solidFill>
              <a:srgbClr val="252B3D"/>
            </a:solidFill>
            <a:prstDash val="solid"/>
          </a:ln>
        </p:spPr>
      </p:sp>
      <p:pic>
        <p:nvPicPr>
          <p:cNvPr id="12" name="Image 1" descr="assets/roi2.jpg"/>
          <p:cNvPicPr>
            <a:picLocks noChangeAspect="1"/>
          </p:cNvPicPr>
          <p:nvPr/>
        </p:nvPicPr>
        <p:blipFill>
          <a:blip r:embed="rId4"/>
          <a:srcRect/>
          <a:stretch/>
        </p:blipFill>
        <p:spPr>
          <a:xfrm>
            <a:off x="6537960" y="2057400"/>
            <a:ext cx="1828800" cy="3246120"/>
          </a:xfrm>
          <a:prstGeom prst="rect">
            <a:avLst/>
          </a:prstGeom>
        </p:spPr>
      </p:pic>
      <p:sp>
        <p:nvSpPr>
          <p:cNvPr id="13" name="Text 9"/>
          <p:cNvSpPr/>
          <p:nvPr/>
        </p:nvSpPr>
        <p:spPr>
          <a:xfrm>
            <a:off x="8641080" y="2103120"/>
            <a:ext cx="2743200" cy="411480"/>
          </a:xfrm>
          <a:prstGeom prst="rect">
            <a:avLst/>
          </a:prstGeom>
          <a:noFill/>
          <a:ln/>
        </p:spPr>
        <p:txBody>
          <a:bodyPr wrap="square" rtlCol="0" anchor="ctr"/>
          <a:lstStyle/>
          <a:p>
            <a:pPr marL="0" indent="0">
              <a:buNone/>
            </a:pPr>
            <a:r>
              <a:rPr lang="en-US" sz="1600" b="1" dirty="0">
                <a:solidFill>
                  <a:srgbClr val="F2A65A"/>
                </a:solidFill>
                <a:latin typeface="Calibri" pitchFamily="34" charset="0"/>
                <a:ea typeface="Calibri" pitchFamily="34" charset="-122"/>
                <a:cs typeface="Calibri" pitchFamily="34" charset="-120"/>
              </a:rPr>
              <a:t>Roi (PRV-H200)</a:t>
            </a:r>
            <a:endParaRPr lang="en-US" sz="1600" dirty="0"/>
          </a:p>
        </p:txBody>
      </p:sp>
      <p:sp>
        <p:nvSpPr>
          <p:cNvPr id="14" name="Text 10"/>
          <p:cNvSpPr/>
          <p:nvPr/>
        </p:nvSpPr>
        <p:spPr>
          <a:xfrm>
            <a:off x="8641080" y="2606040"/>
            <a:ext cx="2743200" cy="2743200"/>
          </a:xfrm>
          <a:prstGeom prst="rect">
            <a:avLst/>
          </a:prstGeom>
          <a:noFill/>
          <a:ln/>
        </p:spPr>
        <p:txBody>
          <a:bodyPr wrap="square" rtlCol="0" anchor="ctr"/>
          <a:lstStyle/>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역할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인간에게 납치당한 로봇
(Koi와 역할 교체 가능)
</a:t>
            </a:r>
            <a:endParaRPr lang="en-US" sz="1250" dirty="0"/>
          </a:p>
          <a:p>
            <a:pPr marL="0" indent="0">
              <a:lnSpc>
                <a:spcPct val="125000"/>
              </a:lnSpc>
              <a:buNone/>
            </a:pPr>
            <a:r>
              <a:rPr lang="en-US" sz="1250" b="1" dirty="0">
                <a:solidFill>
                  <a:srgbClr val="6FE0EE"/>
                </a:solidFill>
                <a:latin typeface="Calibri" pitchFamily="34" charset="0"/>
                <a:ea typeface="Calibri" pitchFamily="34" charset="-122"/>
                <a:cs typeface="Calibri" pitchFamily="34" charset="-120"/>
              </a:rPr>
              <a:t>성격
</a:t>
            </a:r>
            <a:endParaRPr lang="en-US" sz="1250" dirty="0"/>
          </a:p>
          <a:p>
            <a:pPr marL="0" indent="0">
              <a:lnSpc>
                <a:spcPct val="125000"/>
              </a:lnSpc>
              <a:buNone/>
            </a:pPr>
            <a:r>
              <a:rPr lang="en-US" sz="1250" dirty="0">
                <a:solidFill>
                  <a:srgbClr val="F4F4F1"/>
                </a:solidFill>
                <a:latin typeface="Calibri" pitchFamily="34" charset="0"/>
                <a:ea typeface="Calibri" pitchFamily="34" charset="-122"/>
                <a:cs typeface="Calibri" pitchFamily="34" charset="-120"/>
              </a:rPr>
              <a:t>내성적이지만 반전 있는 이중인격</a:t>
            </a:r>
            <a:endParaRPr lang="en-US" sz="1250" dirty="0"/>
          </a:p>
        </p:txBody>
      </p:sp>
      <p:sp>
        <p:nvSpPr>
          <p:cNvPr id="15" name="Text 11"/>
          <p:cNvSpPr/>
          <p:nvPr/>
        </p:nvSpPr>
        <p:spPr>
          <a:xfrm>
            <a:off x="548640" y="5715000"/>
            <a:ext cx="10972800" cy="365760"/>
          </a:xfrm>
          <a:prstGeom prst="rect">
            <a:avLst/>
          </a:prstGeom>
          <a:noFill/>
          <a:ln/>
        </p:spPr>
        <p:txBody>
          <a:bodyPr wrap="square" rtlCol="0" anchor="ctr"/>
          <a:lstStyle/>
          <a:p>
            <a:pPr marL="0" indent="0">
              <a:buNone/>
            </a:pPr>
            <a:r>
              <a:rPr lang="en-US" sz="1300" i="1" dirty="0">
                <a:solidFill>
                  <a:srgbClr val="A7ADC0"/>
                </a:solidFill>
                <a:latin typeface="Calibri" pitchFamily="34" charset="0"/>
                <a:ea typeface="Calibri" pitchFamily="34" charset="-122"/>
                <a:cs typeface="Calibri" pitchFamily="34" charset="-120"/>
              </a:rPr>
              <a:t>Koi와 Roi는 서로 사랑하는 관계 — 둘의 재회가 이야기의 중심입니다.</a:t>
            </a:r>
            <a:endParaRPr lang="en-US" sz="1300" dirty="0"/>
          </a:p>
        </p:txBody>
      </p:sp>
      <p:sp>
        <p:nvSpPr>
          <p:cNvPr id="16" name="Text 12"/>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65760"/>
          </a:xfrm>
          <a:prstGeom prst="rect">
            <a:avLst/>
          </a:prstGeom>
          <a:noFill/>
          <a:ln/>
        </p:spPr>
        <p:txBody>
          <a:bodyPr wrap="square" rtlCol="0" anchor="ctr"/>
          <a:lstStyle/>
          <a:p>
            <a:pPr marL="0" indent="0">
              <a:buNone/>
            </a:pPr>
            <a:r>
              <a:rPr lang="en-US" sz="1100" b="1" kern="0" spc="200" dirty="0">
                <a:solidFill>
                  <a:srgbClr val="F2A65A"/>
                </a:solidFill>
                <a:latin typeface="Calibri" pitchFamily="34" charset="0"/>
                <a:ea typeface="Calibri" pitchFamily="34" charset="-122"/>
                <a:cs typeface="Calibri" pitchFamily="34" charset="-120"/>
              </a:rPr>
              <a:t>06 · 07  수익 모델 / 개발 위험과 해결 방향</a:t>
            </a:r>
            <a:endParaRPr lang="en-US" sz="1100" dirty="0"/>
          </a:p>
        </p:txBody>
      </p:sp>
      <p:sp>
        <p:nvSpPr>
          <p:cNvPr id="3" name="Text 1"/>
          <p:cNvSpPr/>
          <p:nvPr/>
        </p:nvSpPr>
        <p:spPr>
          <a:xfrm>
            <a:off x="11000232" y="384048"/>
            <a:ext cx="731520" cy="365760"/>
          </a:xfrm>
          <a:prstGeom prst="rect">
            <a:avLst/>
          </a:prstGeom>
          <a:noFill/>
          <a:ln/>
        </p:spPr>
        <p:txBody>
          <a:bodyPr wrap="square" rtlCol="0" anchor="ctr"/>
          <a:lstStyle/>
          <a:p>
            <a:pPr marL="0" indent="0" algn="r">
              <a:buNone/>
            </a:pPr>
            <a:r>
              <a:rPr lang="en-US" sz="1100" dirty="0">
                <a:solidFill>
                  <a:srgbClr val="A7ADC0"/>
                </a:solidFill>
                <a:latin typeface="Calibri" pitchFamily="34" charset="0"/>
                <a:ea typeface="Calibri" pitchFamily="34" charset="-122"/>
                <a:cs typeface="Calibri" pitchFamily="34" charset="-120"/>
              </a:rPr>
              <a:t>7 / 7</a:t>
            </a:r>
            <a:endParaRPr lang="en-US" sz="1100" dirty="0"/>
          </a:p>
        </p:txBody>
      </p:sp>
      <p:sp>
        <p:nvSpPr>
          <p:cNvPr id="4" name="Text 2"/>
          <p:cNvSpPr/>
          <p:nvPr/>
        </p:nvSpPr>
        <p:spPr>
          <a:xfrm>
            <a:off x="548640" y="685800"/>
            <a:ext cx="11091672" cy="822960"/>
          </a:xfrm>
          <a:prstGeom prst="rect">
            <a:avLst/>
          </a:prstGeom>
          <a:noFill/>
          <a:ln/>
        </p:spPr>
        <p:txBody>
          <a:bodyPr wrap="square" lIns="0" tIns="0" rIns="0" bIns="0" rtlCol="0" anchor="ctr"/>
          <a:lstStyle/>
          <a:p>
            <a:pPr marL="0" indent="0">
              <a:buNone/>
            </a:pPr>
            <a:r>
              <a:rPr lang="en-US" sz="3200" b="1" dirty="0">
                <a:solidFill>
                  <a:srgbClr val="F4F4F1"/>
                </a:solidFill>
                <a:latin typeface="Century Schoolbook" pitchFamily="34" charset="0"/>
                <a:ea typeface="Century Schoolbook" pitchFamily="34" charset="-122"/>
                <a:cs typeface="Century Schoolbook" pitchFamily="34" charset="-120"/>
              </a:rPr>
              <a:t>수익 모델 &amp; 개발 리스크 대응</a:t>
            </a:r>
            <a:endParaRPr lang="en-US" sz="3200" dirty="0"/>
          </a:p>
        </p:txBody>
      </p:sp>
      <p:sp>
        <p:nvSpPr>
          <p:cNvPr id="5" name="Text 3"/>
          <p:cNvSpPr/>
          <p:nvPr/>
        </p:nvSpPr>
        <p:spPr>
          <a:xfrm>
            <a:off x="548640" y="1783080"/>
            <a:ext cx="5303520" cy="365760"/>
          </a:xfrm>
          <a:prstGeom prst="rect">
            <a:avLst/>
          </a:prstGeom>
          <a:noFill/>
          <a:ln/>
        </p:spPr>
        <p:txBody>
          <a:bodyPr wrap="square" rtlCol="0" anchor="ctr"/>
          <a:lstStyle/>
          <a:p>
            <a:pPr marL="0" indent="0">
              <a:buNone/>
            </a:pPr>
            <a:r>
              <a:rPr lang="en-US" sz="1600" b="1" dirty="0">
                <a:solidFill>
                  <a:srgbClr val="6FE0EE"/>
                </a:solidFill>
                <a:latin typeface="Calibri" pitchFamily="34" charset="0"/>
                <a:ea typeface="Calibri" pitchFamily="34" charset="-122"/>
                <a:cs typeface="Calibri" pitchFamily="34" charset="-120"/>
              </a:rPr>
              <a:t>수익 모델</a:t>
            </a:r>
            <a:endParaRPr lang="en-US" sz="1600" dirty="0"/>
          </a:p>
        </p:txBody>
      </p:sp>
      <p:sp>
        <p:nvSpPr>
          <p:cNvPr id="6" name="Shape 4"/>
          <p:cNvSpPr/>
          <p:nvPr/>
        </p:nvSpPr>
        <p:spPr>
          <a:xfrm>
            <a:off x="548640" y="2359152"/>
            <a:ext cx="91440" cy="91440"/>
          </a:xfrm>
          <a:prstGeom prst="ellipse">
            <a:avLst/>
          </a:prstGeom>
          <a:solidFill>
            <a:srgbClr val="F2A65A"/>
          </a:solidFill>
          <a:ln w="12700">
            <a:solidFill>
              <a:srgbClr val="F2A65A"/>
            </a:solidFill>
            <a:prstDash val="solid"/>
          </a:ln>
        </p:spPr>
      </p:sp>
      <p:sp>
        <p:nvSpPr>
          <p:cNvPr id="7" name="Text 5"/>
          <p:cNvSpPr/>
          <p:nvPr/>
        </p:nvSpPr>
        <p:spPr>
          <a:xfrm>
            <a:off x="777240" y="2286000"/>
            <a:ext cx="5029200" cy="36576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유통 플랫폼 판매 (스팀 등)</a:t>
            </a:r>
            <a:endParaRPr lang="en-US" sz="1300" dirty="0"/>
          </a:p>
        </p:txBody>
      </p:sp>
      <p:sp>
        <p:nvSpPr>
          <p:cNvPr id="8" name="Shape 6"/>
          <p:cNvSpPr/>
          <p:nvPr/>
        </p:nvSpPr>
        <p:spPr>
          <a:xfrm>
            <a:off x="548640" y="2816352"/>
            <a:ext cx="91440" cy="91440"/>
          </a:xfrm>
          <a:prstGeom prst="ellipse">
            <a:avLst/>
          </a:prstGeom>
          <a:solidFill>
            <a:srgbClr val="F2A65A"/>
          </a:solidFill>
          <a:ln w="12700">
            <a:solidFill>
              <a:srgbClr val="F2A65A"/>
            </a:solidFill>
            <a:prstDash val="solid"/>
          </a:ln>
        </p:spPr>
      </p:sp>
      <p:sp>
        <p:nvSpPr>
          <p:cNvPr id="9" name="Text 7"/>
          <p:cNvSpPr/>
          <p:nvPr/>
        </p:nvSpPr>
        <p:spPr>
          <a:xfrm>
            <a:off x="777240" y="2743200"/>
            <a:ext cx="5029200" cy="36576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스팀 위시리스트 사전 마케팅</a:t>
            </a:r>
            <a:endParaRPr lang="en-US" sz="1300" dirty="0"/>
          </a:p>
        </p:txBody>
      </p:sp>
      <p:sp>
        <p:nvSpPr>
          <p:cNvPr id="10" name="Shape 8"/>
          <p:cNvSpPr/>
          <p:nvPr/>
        </p:nvSpPr>
        <p:spPr>
          <a:xfrm>
            <a:off x="548640" y="3273552"/>
            <a:ext cx="91440" cy="91440"/>
          </a:xfrm>
          <a:prstGeom prst="ellipse">
            <a:avLst/>
          </a:prstGeom>
          <a:solidFill>
            <a:srgbClr val="F2A65A"/>
          </a:solidFill>
          <a:ln w="12700">
            <a:solidFill>
              <a:srgbClr val="F2A65A"/>
            </a:solidFill>
            <a:prstDash val="solid"/>
          </a:ln>
        </p:spPr>
      </p:sp>
      <p:sp>
        <p:nvSpPr>
          <p:cNvPr id="11" name="Text 9"/>
          <p:cNvSpPr/>
          <p:nvPr/>
        </p:nvSpPr>
        <p:spPr>
          <a:xfrm>
            <a:off x="777240" y="3200400"/>
            <a:ext cx="5029200" cy="365760"/>
          </a:xfrm>
          <a:prstGeom prst="rect">
            <a:avLst/>
          </a:prstGeom>
          <a:noFill/>
          <a:ln/>
        </p:spPr>
        <p:txBody>
          <a:bodyPr wrap="square" rtlCol="0" anchor="ctr"/>
          <a:lstStyle/>
          <a:p>
            <a:pPr marL="0" indent="0">
              <a:buNone/>
            </a:pPr>
            <a:r>
              <a:rPr lang="en-US" sz="1300" dirty="0">
                <a:solidFill>
                  <a:srgbClr val="F4F4F1"/>
                </a:solidFill>
                <a:latin typeface="Calibri" pitchFamily="34" charset="0"/>
                <a:ea typeface="Calibri" pitchFamily="34" charset="-122"/>
                <a:cs typeface="Calibri" pitchFamily="34" charset="-120"/>
              </a:rPr>
              <a:t>인플루언서 &amp; SNS 영상 광고</a:t>
            </a:r>
            <a:endParaRPr lang="en-US" sz="1300" dirty="0"/>
          </a:p>
        </p:txBody>
      </p:sp>
      <p:sp>
        <p:nvSpPr>
          <p:cNvPr id="12" name="Shape 10"/>
          <p:cNvSpPr/>
          <p:nvPr/>
        </p:nvSpPr>
        <p:spPr>
          <a:xfrm>
            <a:off x="548640" y="3794760"/>
            <a:ext cx="5303520" cy="1051560"/>
          </a:xfrm>
          <a:prstGeom prst="rect">
            <a:avLst/>
          </a:prstGeom>
          <a:solidFill>
            <a:srgbClr val="1D2230"/>
          </a:solidFill>
          <a:ln w="12700">
            <a:solidFill>
              <a:srgbClr val="252B3D"/>
            </a:solidFill>
            <a:prstDash val="solid"/>
          </a:ln>
        </p:spPr>
      </p:sp>
      <p:sp>
        <p:nvSpPr>
          <p:cNvPr id="13" name="Text 11"/>
          <p:cNvSpPr/>
          <p:nvPr/>
        </p:nvSpPr>
        <p:spPr>
          <a:xfrm>
            <a:off x="777240" y="3913632"/>
            <a:ext cx="4846320" cy="822960"/>
          </a:xfrm>
          <a:prstGeom prst="rect">
            <a:avLst/>
          </a:prstGeom>
          <a:noFill/>
          <a:ln/>
        </p:spPr>
        <p:txBody>
          <a:bodyPr wrap="square" rtlCol="0" anchor="ctr"/>
          <a:lstStyle/>
          <a:p>
            <a:pPr marL="0" indent="0">
              <a:lnSpc>
                <a:spcPct val="120000"/>
              </a:lnSpc>
              <a:buNone/>
            </a:pPr>
            <a:r>
              <a:rPr lang="en-US" sz="1200" i="1" dirty="0">
                <a:solidFill>
                  <a:srgbClr val="A7ADC0"/>
                </a:solidFill>
                <a:latin typeface="Calibri" pitchFamily="34" charset="0"/>
                <a:ea typeface="Calibri" pitchFamily="34" charset="-122"/>
                <a:cs typeface="Calibri" pitchFamily="34" charset="-120"/>
              </a:rPr>
              <a:t>사용자 부담 완화: 주간 광고 노출 3회로 제한 + 실제 플레이 영상을 짧게 노출해 신뢰도 확보</a:t>
            </a:r>
            <a:endParaRPr lang="en-US" sz="1200" dirty="0"/>
          </a:p>
        </p:txBody>
      </p:sp>
      <p:sp>
        <p:nvSpPr>
          <p:cNvPr id="14" name="Text 12"/>
          <p:cNvSpPr/>
          <p:nvPr/>
        </p:nvSpPr>
        <p:spPr>
          <a:xfrm>
            <a:off x="6291072" y="1783080"/>
            <a:ext cx="5349240" cy="365760"/>
          </a:xfrm>
          <a:prstGeom prst="rect">
            <a:avLst/>
          </a:prstGeom>
          <a:noFill/>
          <a:ln/>
        </p:spPr>
        <p:txBody>
          <a:bodyPr wrap="square" rtlCol="0" anchor="ctr"/>
          <a:lstStyle/>
          <a:p>
            <a:pPr marL="0" indent="0">
              <a:buNone/>
            </a:pPr>
            <a:r>
              <a:rPr lang="en-US" sz="1600" b="1" dirty="0">
                <a:solidFill>
                  <a:srgbClr val="6FE0EE"/>
                </a:solidFill>
                <a:latin typeface="Calibri" pitchFamily="34" charset="0"/>
                <a:ea typeface="Calibri" pitchFamily="34" charset="-122"/>
                <a:cs typeface="Calibri" pitchFamily="34" charset="-120"/>
              </a:rPr>
              <a:t>개발 위험 → 해결 방향</a:t>
            </a:r>
            <a:endParaRPr lang="en-US" sz="1600" dirty="0"/>
          </a:p>
        </p:txBody>
      </p:sp>
      <p:sp>
        <p:nvSpPr>
          <p:cNvPr id="15" name="Text 13"/>
          <p:cNvSpPr/>
          <p:nvPr/>
        </p:nvSpPr>
        <p:spPr>
          <a:xfrm>
            <a:off x="6291072" y="2286000"/>
            <a:ext cx="274320" cy="320040"/>
          </a:xfrm>
          <a:prstGeom prst="rect">
            <a:avLst/>
          </a:prstGeom>
          <a:noFill/>
          <a:ln/>
        </p:spPr>
        <p:txBody>
          <a:bodyPr wrap="square" rtlCol="0" anchor="ctr"/>
          <a:lstStyle/>
          <a:p>
            <a:pPr marL="0" indent="0">
              <a:buNone/>
            </a:pPr>
            <a:r>
              <a:rPr lang="en-US" sz="1100" dirty="0">
                <a:solidFill>
                  <a:srgbClr val="E8836A"/>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6565392" y="2286000"/>
            <a:ext cx="4937760" cy="320040"/>
          </a:xfrm>
          <a:prstGeom prst="rect">
            <a:avLst/>
          </a:prstGeom>
          <a:noFill/>
          <a:ln/>
        </p:spPr>
        <p:txBody>
          <a:bodyPr wrap="square" rtlCol="0" anchor="ctr"/>
          <a:lstStyle/>
          <a:p>
            <a:pPr marL="0" indent="0">
              <a:buNone/>
            </a:pPr>
            <a:r>
              <a:rPr lang="en-US" sz="1200" dirty="0">
                <a:solidFill>
                  <a:srgbClr val="F4F4F1"/>
                </a:solidFill>
                <a:latin typeface="Calibri" pitchFamily="34" charset="0"/>
                <a:ea typeface="Calibri" pitchFamily="34" charset="-122"/>
                <a:cs typeface="Calibri" pitchFamily="34" charset="-120"/>
              </a:rPr>
              <a:t>우주선 내부 3개 층, 낮은 자유도</a:t>
            </a:r>
            <a:endParaRPr lang="en-US" sz="1200" dirty="0"/>
          </a:p>
        </p:txBody>
      </p:sp>
      <p:sp>
        <p:nvSpPr>
          <p:cNvPr id="17" name="Text 15"/>
          <p:cNvSpPr/>
          <p:nvPr/>
        </p:nvSpPr>
        <p:spPr>
          <a:xfrm>
            <a:off x="6291072" y="2615184"/>
            <a:ext cx="274320" cy="320040"/>
          </a:xfrm>
          <a:prstGeom prst="rect">
            <a:avLst/>
          </a:prstGeom>
          <a:noFill/>
          <a:ln/>
        </p:spPr>
        <p:txBody>
          <a:bodyPr wrap="square" rtlCol="0" anchor="ctr"/>
          <a:lstStyle/>
          <a:p>
            <a:pPr marL="0" indent="0">
              <a:buNone/>
            </a:pPr>
            <a:r>
              <a:rPr lang="en-US" sz="1100" dirty="0">
                <a:solidFill>
                  <a:srgbClr val="6FCF9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565392" y="2615184"/>
            <a:ext cx="4937760" cy="32004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캐릭터 커스터마이징 + 외부 스킨 지원</a:t>
            </a:r>
            <a:endParaRPr lang="en-US" sz="1200" dirty="0"/>
          </a:p>
        </p:txBody>
      </p:sp>
      <p:sp>
        <p:nvSpPr>
          <p:cNvPr id="19" name="Text 17"/>
          <p:cNvSpPr/>
          <p:nvPr/>
        </p:nvSpPr>
        <p:spPr>
          <a:xfrm>
            <a:off x="6291072" y="3127248"/>
            <a:ext cx="274320" cy="320040"/>
          </a:xfrm>
          <a:prstGeom prst="rect">
            <a:avLst/>
          </a:prstGeom>
          <a:noFill/>
          <a:ln/>
        </p:spPr>
        <p:txBody>
          <a:bodyPr wrap="square" rtlCol="0" anchor="ctr"/>
          <a:lstStyle/>
          <a:p>
            <a:pPr marL="0" indent="0">
              <a:buNone/>
            </a:pPr>
            <a:r>
              <a:rPr lang="en-US" sz="1100" dirty="0">
                <a:solidFill>
                  <a:srgbClr val="E8836A"/>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6565392" y="3127248"/>
            <a:ext cx="4937760" cy="320040"/>
          </a:xfrm>
          <a:prstGeom prst="rect">
            <a:avLst/>
          </a:prstGeom>
          <a:noFill/>
          <a:ln/>
        </p:spPr>
        <p:txBody>
          <a:bodyPr wrap="square" rtlCol="0" anchor="ctr"/>
          <a:lstStyle/>
          <a:p>
            <a:pPr marL="0" indent="0">
              <a:buNone/>
            </a:pPr>
            <a:r>
              <a:rPr lang="en-US" sz="1200" dirty="0">
                <a:solidFill>
                  <a:srgbClr val="F4F4F1"/>
                </a:solidFill>
                <a:latin typeface="Calibri" pitchFamily="34" charset="0"/>
                <a:ea typeface="Calibri" pitchFamily="34" charset="-122"/>
                <a:cs typeface="Calibri" pitchFamily="34" charset="-120"/>
              </a:rPr>
              <a:t>세계관 대비 빈약한 인게임 분량</a:t>
            </a:r>
            <a:endParaRPr lang="en-US" sz="1200" dirty="0"/>
          </a:p>
        </p:txBody>
      </p:sp>
      <p:sp>
        <p:nvSpPr>
          <p:cNvPr id="21" name="Text 19"/>
          <p:cNvSpPr/>
          <p:nvPr/>
        </p:nvSpPr>
        <p:spPr>
          <a:xfrm>
            <a:off x="6291072" y="3456432"/>
            <a:ext cx="274320" cy="320040"/>
          </a:xfrm>
          <a:prstGeom prst="rect">
            <a:avLst/>
          </a:prstGeom>
          <a:noFill/>
          <a:ln/>
        </p:spPr>
        <p:txBody>
          <a:bodyPr wrap="square" rtlCol="0" anchor="ctr"/>
          <a:lstStyle/>
          <a:p>
            <a:pPr marL="0" indent="0">
              <a:buNone/>
            </a:pPr>
            <a:r>
              <a:rPr lang="en-US" sz="1100" dirty="0">
                <a:solidFill>
                  <a:srgbClr val="6FCF9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6565392" y="3456432"/>
            <a:ext cx="4937760" cy="32004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비주얼 노벨형 도입부로 서사 분량 확보</a:t>
            </a:r>
            <a:endParaRPr lang="en-US" sz="1200" dirty="0"/>
          </a:p>
        </p:txBody>
      </p:sp>
      <p:sp>
        <p:nvSpPr>
          <p:cNvPr id="23" name="Text 21"/>
          <p:cNvSpPr/>
          <p:nvPr/>
        </p:nvSpPr>
        <p:spPr>
          <a:xfrm>
            <a:off x="6291072" y="3968496"/>
            <a:ext cx="274320" cy="320040"/>
          </a:xfrm>
          <a:prstGeom prst="rect">
            <a:avLst/>
          </a:prstGeom>
          <a:noFill/>
          <a:ln/>
        </p:spPr>
        <p:txBody>
          <a:bodyPr wrap="square" rtlCol="0" anchor="ctr"/>
          <a:lstStyle/>
          <a:p>
            <a:pPr marL="0" indent="0">
              <a:buNone/>
            </a:pPr>
            <a:r>
              <a:rPr lang="en-US" sz="1100" dirty="0">
                <a:solidFill>
                  <a:srgbClr val="E8836A"/>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6565392" y="3968496"/>
            <a:ext cx="4937760" cy="320040"/>
          </a:xfrm>
          <a:prstGeom prst="rect">
            <a:avLst/>
          </a:prstGeom>
          <a:noFill/>
          <a:ln/>
        </p:spPr>
        <p:txBody>
          <a:bodyPr wrap="square" rtlCol="0" anchor="ctr"/>
          <a:lstStyle/>
          <a:p>
            <a:pPr marL="0" indent="0">
              <a:buNone/>
            </a:pPr>
            <a:r>
              <a:rPr lang="en-US" sz="1200" dirty="0">
                <a:solidFill>
                  <a:srgbClr val="F4F4F1"/>
                </a:solidFill>
                <a:latin typeface="Calibri" pitchFamily="34" charset="0"/>
                <a:ea typeface="Calibri" pitchFamily="34" charset="-122"/>
                <a:cs typeface="Calibri" pitchFamily="34" charset="-120"/>
              </a:rPr>
              <a:t>싱글 게임, 부족한 재플레이 가치</a:t>
            </a:r>
            <a:endParaRPr lang="en-US" sz="1200" dirty="0"/>
          </a:p>
        </p:txBody>
      </p:sp>
      <p:sp>
        <p:nvSpPr>
          <p:cNvPr id="25" name="Text 23"/>
          <p:cNvSpPr/>
          <p:nvPr/>
        </p:nvSpPr>
        <p:spPr>
          <a:xfrm>
            <a:off x="6291072" y="4297680"/>
            <a:ext cx="274320" cy="320040"/>
          </a:xfrm>
          <a:prstGeom prst="rect">
            <a:avLst/>
          </a:prstGeom>
          <a:noFill/>
          <a:ln/>
        </p:spPr>
        <p:txBody>
          <a:bodyPr wrap="square" rtlCol="0" anchor="ctr"/>
          <a:lstStyle/>
          <a:p>
            <a:pPr marL="0" indent="0">
              <a:buNone/>
            </a:pPr>
            <a:r>
              <a:rPr lang="en-US" sz="1100" dirty="0">
                <a:solidFill>
                  <a:srgbClr val="6FCF97"/>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6565392" y="4297680"/>
            <a:ext cx="4937760" cy="320040"/>
          </a:xfrm>
          <a:prstGeom prst="rect">
            <a:avLst/>
          </a:prstGeom>
          <a:noFill/>
          <a:ln/>
        </p:spPr>
        <p:txBody>
          <a:bodyPr wrap="square" rtlCol="0" anchor="ctr"/>
          <a:lstStyle/>
          <a:p>
            <a:pPr marL="0" indent="0">
              <a:buNone/>
            </a:pPr>
            <a:r>
              <a:rPr lang="en-US" sz="1200" dirty="0">
                <a:solidFill>
                  <a:srgbClr val="A7ADC0"/>
                </a:solidFill>
                <a:latin typeface="Calibri" pitchFamily="34" charset="0"/>
                <a:ea typeface="Calibri" pitchFamily="34" charset="-122"/>
                <a:cs typeface="Calibri" pitchFamily="34" charset="-120"/>
              </a:rPr>
              <a:t>이용자 확대에 맞춘 신규 맵·콘텐츠 추가</a:t>
            </a:r>
            <a:endParaRPr lang="en-US" sz="1200" dirty="0"/>
          </a:p>
        </p:txBody>
      </p:sp>
      <p:sp>
        <p:nvSpPr>
          <p:cNvPr id="27" name="Text 25"/>
          <p:cNvSpPr/>
          <p:nvPr/>
        </p:nvSpPr>
        <p:spPr>
          <a:xfrm>
            <a:off x="548640" y="6400800"/>
            <a:ext cx="5486400" cy="320040"/>
          </a:xfrm>
          <a:prstGeom prst="rect">
            <a:avLst/>
          </a:prstGeom>
          <a:noFill/>
          <a:ln/>
        </p:spPr>
        <p:txBody>
          <a:bodyPr wrap="square" rtlCol="0" anchor="ctr"/>
          <a:lstStyle/>
          <a:p>
            <a:pPr marL="0" indent="0">
              <a:buNone/>
            </a:pPr>
            <a:r>
              <a:rPr lang="en-US" sz="900" dirty="0">
                <a:solidFill>
                  <a:srgbClr val="A7ADC0"/>
                </a:solidFill>
                <a:latin typeface="Calibri" pitchFamily="34" charset="0"/>
                <a:ea typeface="Calibri" pitchFamily="34" charset="-122"/>
                <a:cs typeface="Calibri" pitchFamily="34" charset="-120"/>
              </a:rPr>
              <a:t>Koi AI  ·  게임 사전 기획 요약</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F"/>
        </a:solidFill>
        <a:effectLst/>
      </p:bgPr>
    </p:bg>
    <p:spTree>
      <p:nvGrpSpPr>
        <p:cNvPr id="1" name=""/>
        <p:cNvGrpSpPr/>
        <p:nvPr/>
      </p:nvGrpSpPr>
      <p:grpSpPr>
        <a:xfrm>
          <a:off x="0" y="0"/>
          <a:ext cx="0" cy="0"/>
          <a:chOff x="0" y="0"/>
          <a:chExt cx="0" cy="0"/>
        </a:xfrm>
      </p:grpSpPr>
      <p:pic>
        <p:nvPicPr>
          <p:cNvPr id="2" name="Image 0" descr="assets/roi2.jpg"/>
          <p:cNvPicPr>
            <a:picLocks noChangeAspect="1"/>
          </p:cNvPicPr>
          <p:nvPr/>
        </p:nvPicPr>
        <p:blipFill>
          <a:blip r:embed="rId3"/>
          <a:srcRect/>
          <a:stretch/>
        </p:blipFill>
        <p:spPr>
          <a:xfrm>
            <a:off x="8138160" y="0"/>
            <a:ext cx="4050792" cy="6858000"/>
          </a:xfrm>
          <a:prstGeom prst="rect">
            <a:avLst/>
          </a:prstGeom>
        </p:spPr>
      </p:pic>
      <p:sp>
        <p:nvSpPr>
          <p:cNvPr id="3" name="Shape 0"/>
          <p:cNvSpPr/>
          <p:nvPr/>
        </p:nvSpPr>
        <p:spPr>
          <a:xfrm>
            <a:off x="0" y="0"/>
            <a:ext cx="8183880" cy="6858000"/>
          </a:xfrm>
          <a:prstGeom prst="rect">
            <a:avLst/>
          </a:prstGeom>
          <a:solidFill>
            <a:srgbClr val="14171F"/>
          </a:solidFill>
          <a:ln/>
        </p:spPr>
      </p:sp>
      <p:sp>
        <p:nvSpPr>
          <p:cNvPr id="4" name="Shape 1"/>
          <p:cNvSpPr/>
          <p:nvPr/>
        </p:nvSpPr>
        <p:spPr>
          <a:xfrm>
            <a:off x="8138160" y="0"/>
            <a:ext cx="4050792" cy="6858000"/>
          </a:xfrm>
          <a:prstGeom prst="rect">
            <a:avLst/>
          </a:prstGeom>
          <a:solidFill>
            <a:srgbClr val="0A0C12">
              <a:alpha val="55000"/>
            </a:srgbClr>
          </a:solidFill>
          <a:ln/>
        </p:spPr>
      </p:sp>
      <p:sp>
        <p:nvSpPr>
          <p:cNvPr id="5" name="Text 2"/>
          <p:cNvSpPr/>
          <p:nvPr/>
        </p:nvSpPr>
        <p:spPr>
          <a:xfrm>
            <a:off x="640080" y="640080"/>
            <a:ext cx="5486400" cy="45720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마무리</a:t>
            </a:r>
            <a:endParaRPr lang="en-US" sz="1300" dirty="0"/>
          </a:p>
        </p:txBody>
      </p:sp>
      <p:sp>
        <p:nvSpPr>
          <p:cNvPr id="6" name="Text 3"/>
          <p:cNvSpPr/>
          <p:nvPr/>
        </p:nvSpPr>
        <p:spPr>
          <a:xfrm>
            <a:off x="640080" y="2103120"/>
            <a:ext cx="6949440" cy="3017520"/>
          </a:xfrm>
          <a:prstGeom prst="rect">
            <a:avLst/>
          </a:prstGeom>
          <a:noFill/>
          <a:ln/>
        </p:spPr>
        <p:txBody>
          <a:bodyPr wrap="square" rtlCol="0" anchor="ctr"/>
          <a:lstStyle/>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“사랑하는 동료를 구하기 위한</a:t>
            </a:r>
            <a:endParaRPr lang="en-US" sz="3000" dirty="0"/>
          </a:p>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로봇의 절박한 여정을 그린</a:t>
            </a:r>
            <a:endParaRPr lang="en-US" sz="3000" dirty="0"/>
          </a:p>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SF 로그라이트 액션을</a:t>
            </a:r>
            <a:endParaRPr lang="en-US" sz="3000" dirty="0"/>
          </a:p>
          <a:p>
            <a:pPr marL="0" indent="0">
              <a:lnSpc>
                <a:spcPct val="125000"/>
              </a:lnSpc>
              <a:buNone/>
            </a:pPr>
            <a:r>
              <a:rPr lang="en-US" sz="3000" b="1" dirty="0">
                <a:solidFill>
                  <a:srgbClr val="F4F4F1"/>
                </a:solidFill>
                <a:latin typeface="Century Schoolbook" pitchFamily="34" charset="0"/>
                <a:ea typeface="Century Schoolbook" pitchFamily="34" charset="-122"/>
                <a:cs typeface="Century Schoolbook" pitchFamily="34" charset="-120"/>
              </a:rPr>
              <a:t>목표로 합니다.”</a:t>
            </a:r>
            <a:endParaRPr lang="en-US" sz="3000" dirty="0"/>
          </a:p>
        </p:txBody>
      </p:sp>
      <p:sp>
        <p:nvSpPr>
          <p:cNvPr id="7" name="Text 4"/>
          <p:cNvSpPr/>
          <p:nvPr/>
        </p:nvSpPr>
        <p:spPr>
          <a:xfrm>
            <a:off x="640080" y="5394960"/>
            <a:ext cx="4572000" cy="548640"/>
          </a:xfrm>
          <a:prstGeom prst="rect">
            <a:avLst/>
          </a:prstGeom>
          <a:noFill/>
          <a:ln/>
        </p:spPr>
        <p:txBody>
          <a:bodyPr wrap="square" rtlCol="0" anchor="ctr"/>
          <a:lstStyle/>
          <a:p>
            <a:pPr marL="0" indent="0">
              <a:buNone/>
            </a:pPr>
            <a:r>
              <a:rPr lang="en-US" sz="1800" dirty="0">
                <a:solidFill>
                  <a:srgbClr val="6FE0EE"/>
                </a:solidFill>
                <a:latin typeface="Calibri" pitchFamily="34" charset="0"/>
                <a:ea typeface="Calibri" pitchFamily="34" charset="-122"/>
                <a:cs typeface="Calibri" pitchFamily="34" charset="-120"/>
              </a:rPr>
              <a:t>감사합니다</a:t>
            </a:r>
            <a:endParaRPr lang="en-US" sz="1800" dirty="0"/>
          </a:p>
        </p:txBody>
      </p:sp>
      <p:sp>
        <p:nvSpPr>
          <p:cNvPr id="8" name="Text 5"/>
          <p:cNvSpPr/>
          <p:nvPr/>
        </p:nvSpPr>
        <p:spPr>
          <a:xfrm>
            <a:off x="640080" y="6217920"/>
            <a:ext cx="5486400" cy="365760"/>
          </a:xfrm>
          <a:prstGeom prst="rect">
            <a:avLst/>
          </a:prstGeom>
          <a:noFill/>
          <a:ln/>
        </p:spPr>
        <p:txBody>
          <a:bodyPr wrap="square" rtlCol="0" anchor="ctr"/>
          <a:lstStyle/>
          <a:p>
            <a:pPr marL="0" indent="0">
              <a:buNone/>
            </a:pPr>
            <a:r>
              <a:rPr lang="en-US" sz="1100" dirty="0">
                <a:solidFill>
                  <a:srgbClr val="A7ADC0"/>
                </a:solidFill>
                <a:latin typeface="Calibri" pitchFamily="34" charset="0"/>
                <a:ea typeface="Calibri" pitchFamily="34" charset="-122"/>
                <a:cs typeface="Calibri" pitchFamily="34" charset="-120"/>
              </a:rPr>
              <a:t>이태훈   |   Koi AI 게임 사전 기획</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1141</Words>
  <Application>Microsoft Office PowerPoint</Application>
  <PresentationFormat>와이드스크린</PresentationFormat>
  <Paragraphs>138</Paragraphs>
  <Slides>9</Slides>
  <Notes>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맑은 고딕</vt:lpstr>
      <vt:lpstr>Arial</vt:lpstr>
      <vt:lpstr>Calibri</vt:lpstr>
      <vt:lpstr>Century Schoolbook</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KCH</cp:lastModifiedBy>
  <cp:revision>6</cp:revision>
  <dcterms:created xsi:type="dcterms:W3CDTF">2026-08-03T06:21:05Z</dcterms:created>
  <dcterms:modified xsi:type="dcterms:W3CDTF">2026-08-03T07:23:58Z</dcterms:modified>
</cp:coreProperties>
</file>